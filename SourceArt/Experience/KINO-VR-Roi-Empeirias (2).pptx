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1675"/>
  <p:notesSz cx="6858000" cy="121916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hSiU/DEjUx61WVpjqxf9mt6fXM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 name="Shape 23"/>
        <p:cNvGrpSpPr/>
        <p:nvPr/>
      </p:nvGrpSpPr>
      <p:grpSpPr>
        <a:xfrm>
          <a:off x="0" y="0"/>
          <a:ext cx="0" cy="0"/>
          <a:chOff x="0" y="0"/>
          <a:chExt cx="0" cy="0"/>
        </a:xfrm>
      </p:grpSpPr>
      <p:sp>
        <p:nvSpPr>
          <p:cNvPr id="24" name="Google Shape;2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 name="Google Shape;2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 name="Google Shape;2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 name="Google Shape;6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 name="Google Shape;62;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3" name="Google Shape;8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6" name="Google Shape;10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1" name="Google Shape;13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2" name="Google Shape;13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1" name="Google Shape;20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2" name="Google Shape;20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4" name="Google Shape;22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63B"/>
        </a:solidFill>
      </p:bgPr>
    </p:bg>
    <p:spTree>
      <p:nvGrpSpPr>
        <p:cNvPr id="15" name="Shape 15"/>
        <p:cNvGrpSpPr/>
        <p:nvPr/>
      </p:nvGrpSpPr>
      <p:grpSpPr>
        <a:xfrm>
          <a:off x="0" y="0"/>
          <a:ext cx="0" cy="0"/>
          <a:chOff x="0" y="0"/>
          <a:chExt cx="0" cy="0"/>
        </a:xfrm>
      </p:grpSpPr>
      <p:sp>
        <p:nvSpPr>
          <p:cNvPr id="16" name="Google Shape;16;p1"/>
          <p:cNvSpPr/>
          <p:nvPr/>
        </p:nvSpPr>
        <p:spPr>
          <a:xfrm>
            <a:off x="8138160" y="-2377440"/>
            <a:ext cx="6766560" cy="6766560"/>
          </a:xfrm>
          <a:prstGeom prst="ellipse">
            <a:avLst/>
          </a:prstGeom>
          <a:solidFill>
            <a:srgbClr val="1B24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9692640" y="-822960"/>
            <a:ext cx="3657600" cy="3657600"/>
          </a:xfrm>
          <a:prstGeom prst="ellipse">
            <a:avLst/>
          </a:prstGeom>
          <a:noFill/>
          <a:ln cap="flat" cmpd="sng" w="1905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txBox="1"/>
          <p:nvPr/>
        </p:nvSpPr>
        <p:spPr>
          <a:xfrm>
            <a:off x="822960" y="137160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KINO VR EXPERIENCE</a:t>
            </a:r>
            <a:endParaRPr b="0" i="0" sz="1200" u="none" cap="none" strike="noStrike">
              <a:solidFill>
                <a:schemeClr val="dk1"/>
              </a:solidFill>
              <a:latin typeface="Calibri"/>
              <a:ea typeface="Calibri"/>
              <a:cs typeface="Calibri"/>
              <a:sym typeface="Calibri"/>
            </a:endParaRPr>
          </a:p>
        </p:txBody>
      </p:sp>
      <p:sp>
        <p:nvSpPr>
          <p:cNvPr id="19" name="Google Shape;19;p1"/>
          <p:cNvSpPr txBox="1"/>
          <p:nvPr/>
        </p:nvSpPr>
        <p:spPr>
          <a:xfrm>
            <a:off x="822960" y="1783080"/>
            <a:ext cx="86868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4800"/>
              <a:buFont typeface="Cambria"/>
              <a:buNone/>
            </a:pPr>
            <a:r>
              <a:rPr b="1" i="0" lang="en-US" sz="4800" u="none" cap="none" strike="noStrike">
                <a:solidFill>
                  <a:srgbClr val="FFFFFF"/>
                </a:solidFill>
                <a:latin typeface="Cambria"/>
                <a:ea typeface="Cambria"/>
                <a:cs typeface="Cambria"/>
                <a:sym typeface="Cambria"/>
              </a:rPr>
              <a:t>Ροή Εμπειρίας</a:t>
            </a:r>
            <a:endParaRPr b="0" i="0" sz="4800" u="none" cap="none" strike="noStrike">
              <a:solidFill>
                <a:schemeClr val="dk1"/>
              </a:solidFill>
              <a:latin typeface="Calibri"/>
              <a:ea typeface="Calibri"/>
              <a:cs typeface="Calibri"/>
              <a:sym typeface="Calibri"/>
            </a:endParaRPr>
          </a:p>
        </p:txBody>
      </p:sp>
      <p:sp>
        <p:nvSpPr>
          <p:cNvPr id="20" name="Google Shape;20;p1"/>
          <p:cNvSpPr txBox="1"/>
          <p:nvPr/>
        </p:nvSpPr>
        <p:spPr>
          <a:xfrm>
            <a:off x="822960" y="2880360"/>
            <a:ext cx="7589520" cy="822960"/>
          </a:xfrm>
          <a:prstGeom prst="rect">
            <a:avLst/>
          </a:prstGeom>
          <a:noFill/>
          <a:ln>
            <a:noFill/>
          </a:ln>
        </p:spPr>
        <p:txBody>
          <a:bodyPr anchorCtr="0" anchor="ctr" bIns="0" lIns="0" spcFirstLastPara="1" rIns="0" wrap="square" tIns="0">
            <a:noAutofit/>
          </a:bodyPr>
          <a:lstStyle/>
          <a:p>
            <a:pPr indent="0" lvl="0" marL="0" marR="0" rtl="0" algn="l">
              <a:lnSpc>
                <a:spcPct val="125000"/>
              </a:lnSpc>
              <a:spcBef>
                <a:spcPts val="0"/>
              </a:spcBef>
              <a:spcAft>
                <a:spcPts val="0"/>
              </a:spcAft>
              <a:buClr>
                <a:srgbClr val="CFE0FF"/>
              </a:buClr>
              <a:buSzPts val="1600"/>
              <a:buFont typeface="Calibri"/>
              <a:buNone/>
            </a:pPr>
            <a:r>
              <a:rPr b="0" i="0" lang="en-US" sz="1600" u="none" cap="none" strike="noStrike">
                <a:solidFill>
                  <a:srgbClr val="CFE0FF"/>
                </a:solidFill>
                <a:latin typeface="Calibri"/>
                <a:ea typeface="Calibri"/>
                <a:cs typeface="Calibri"/>
                <a:sym typeface="Calibri"/>
              </a:rPr>
              <a:t>Από την τοποθέτηση του headset έως την αφαίρεσή του — μία συνεχόμενη συνεδρία, οκτώ στάδια.</a:t>
            </a:r>
            <a:endParaRPr b="0" i="0" sz="1600" u="none" cap="none" strike="noStrike">
              <a:solidFill>
                <a:schemeClr val="dk1"/>
              </a:solidFill>
              <a:latin typeface="Calibri"/>
              <a:ea typeface="Calibri"/>
              <a:cs typeface="Calibri"/>
              <a:sym typeface="Calibri"/>
            </a:endParaRPr>
          </a:p>
        </p:txBody>
      </p:sp>
      <p:sp>
        <p:nvSpPr>
          <p:cNvPr id="21" name="Google Shape;21;p1"/>
          <p:cNvSpPr txBox="1"/>
          <p:nvPr/>
        </p:nvSpPr>
        <p:spPr>
          <a:xfrm>
            <a:off x="822960" y="6035040"/>
            <a:ext cx="73152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7D28C"/>
              </a:buClr>
              <a:buSzPts val="1100"/>
              <a:buFont typeface="Calibri"/>
              <a:buNone/>
            </a:pPr>
            <a:r>
              <a:rPr b="0" i="1" lang="en-US" sz="1100" u="none" cap="none" strike="noStrike">
                <a:solidFill>
                  <a:srgbClr val="E7D28C"/>
                </a:solidFill>
                <a:latin typeface="Calibri"/>
                <a:ea typeface="Calibri"/>
                <a:cs typeface="Calibri"/>
                <a:sym typeface="Calibri"/>
              </a:rPr>
              <a:t>Εσωτερικό έγγραφο αναφοράς για τις ομάδες σχεδιασμού, ανάπτυξης και περιεχομένου</a:t>
            </a:r>
            <a:endParaRPr b="0" i="0" sz="1100" u="none" cap="none" strike="noStrike">
              <a:solidFill>
                <a:schemeClr val="dk1"/>
              </a:solidFill>
              <a:latin typeface="Calibri"/>
              <a:ea typeface="Calibri"/>
              <a:cs typeface="Calibri"/>
              <a:sym typeface="Calibri"/>
            </a:endParaRPr>
          </a:p>
        </p:txBody>
      </p:sp>
      <p:pic>
        <p:nvPicPr>
          <p:cNvPr id="22" name="Google Shape;22;p1" title="KINO-logo-RGB.png"/>
          <p:cNvPicPr preferRelativeResize="0"/>
          <p:nvPr/>
        </p:nvPicPr>
        <p:blipFill>
          <a:blip r:embed="rId3">
            <a:alphaModFix/>
          </a:blip>
          <a:stretch>
            <a:fillRect/>
          </a:stretch>
        </p:blipFill>
        <p:spPr>
          <a:xfrm>
            <a:off x="8513585" y="256482"/>
            <a:ext cx="3419781" cy="216408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 name="Shape 27"/>
        <p:cNvGrpSpPr/>
        <p:nvPr/>
      </p:nvGrpSpPr>
      <p:grpSpPr>
        <a:xfrm>
          <a:off x="0" y="0"/>
          <a:ext cx="0" cy="0"/>
          <a:chOff x="0" y="0"/>
          <a:chExt cx="0" cy="0"/>
        </a:xfrm>
      </p:grpSpPr>
      <p:sp>
        <p:nvSpPr>
          <p:cNvPr id="28" name="Google Shape;28;p2"/>
          <p:cNvSpPr txBox="1"/>
          <p:nvPr/>
        </p:nvSpPr>
        <p:spPr>
          <a:xfrm>
            <a:off x="548640" y="411480"/>
            <a:ext cx="54864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ΕΠΙΣΚΌΠΗΣΗ</a:t>
            </a:r>
            <a:endParaRPr b="0" i="0" sz="1200" u="none" cap="none" strike="noStrike">
              <a:solidFill>
                <a:schemeClr val="dk1"/>
              </a:solidFill>
              <a:latin typeface="Calibri"/>
              <a:ea typeface="Calibri"/>
              <a:cs typeface="Calibri"/>
              <a:sym typeface="Calibri"/>
            </a:endParaRPr>
          </a:p>
        </p:txBody>
      </p:sp>
      <p:sp>
        <p:nvSpPr>
          <p:cNvPr id="29" name="Google Shape;29;p2"/>
          <p:cNvSpPr txBox="1"/>
          <p:nvPr/>
        </p:nvSpPr>
        <p:spPr>
          <a:xfrm>
            <a:off x="548640" y="685800"/>
            <a:ext cx="91440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63B"/>
              </a:buClr>
              <a:buSzPts val="3000"/>
              <a:buFont typeface="Cambria"/>
              <a:buNone/>
            </a:pPr>
            <a:r>
              <a:rPr b="1" i="0" lang="en-US" sz="3000" u="none" cap="none" strike="noStrike">
                <a:solidFill>
                  <a:srgbClr val="10163B"/>
                </a:solidFill>
                <a:latin typeface="Cambria"/>
                <a:ea typeface="Cambria"/>
                <a:cs typeface="Cambria"/>
                <a:sym typeface="Cambria"/>
              </a:rPr>
              <a:t>Μία συνεδρία, οκτώ στάδια</a:t>
            </a:r>
            <a:endParaRPr b="0" i="0" sz="3000" u="none" cap="none" strike="noStrike">
              <a:solidFill>
                <a:schemeClr val="dk1"/>
              </a:solidFill>
              <a:latin typeface="Calibri"/>
              <a:ea typeface="Calibri"/>
              <a:cs typeface="Calibri"/>
              <a:sym typeface="Calibri"/>
            </a:endParaRPr>
          </a:p>
        </p:txBody>
      </p:sp>
      <p:sp>
        <p:nvSpPr>
          <p:cNvPr id="30" name="Google Shape;30;p2"/>
          <p:cNvSpPr txBox="1"/>
          <p:nvPr/>
        </p:nvSpPr>
        <p:spPr>
          <a:xfrm>
            <a:off x="548640" y="1325880"/>
            <a:ext cx="10515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F7A"/>
              </a:buClr>
              <a:buSzPts val="1300"/>
              <a:buFont typeface="Calibri"/>
              <a:buNone/>
            </a:pPr>
            <a:r>
              <a:rPr b="0" i="0" lang="en-US" sz="1300" u="none" cap="none" strike="noStrike">
                <a:solidFill>
                  <a:srgbClr val="5B5F7A"/>
                </a:solidFill>
                <a:latin typeface="Calibri"/>
                <a:ea typeface="Calibri"/>
                <a:cs typeface="Calibri"/>
                <a:sym typeface="Calibri"/>
              </a:rPr>
              <a:t>Η εμπειρία εκτελείται ως μία συνεχόμενη ροή — χωρίς μενού, χωρίς διακοπές — από τη στιγμή που ο χρήστης φοράει το headset μέχρι που το βγάζει.</a:t>
            </a:r>
            <a:endParaRPr b="0" i="0" sz="1300" u="none" cap="none" strike="noStrike">
              <a:solidFill>
                <a:schemeClr val="dk1"/>
              </a:solidFill>
              <a:latin typeface="Calibri"/>
              <a:ea typeface="Calibri"/>
              <a:cs typeface="Calibri"/>
              <a:sym typeface="Calibri"/>
            </a:endParaRPr>
          </a:p>
        </p:txBody>
      </p:sp>
      <p:cxnSp>
        <p:nvCxnSpPr>
          <p:cNvPr id="31" name="Google Shape;31;p2"/>
          <p:cNvCxnSpPr/>
          <p:nvPr/>
        </p:nvCxnSpPr>
        <p:spPr>
          <a:xfrm>
            <a:off x="937260" y="3634740"/>
            <a:ext cx="10287000" cy="0"/>
          </a:xfrm>
          <a:prstGeom prst="straightConnector1">
            <a:avLst/>
          </a:prstGeom>
          <a:noFill/>
          <a:ln cap="flat" cmpd="sng" w="25400">
            <a:solidFill>
              <a:srgbClr val="E3E3EE"/>
            </a:solidFill>
            <a:prstDash val="solid"/>
            <a:round/>
            <a:headEnd len="sm" w="sm" type="none"/>
            <a:tailEnd len="sm" w="sm" type="none"/>
          </a:ln>
        </p:spPr>
      </p:cxnSp>
      <p:sp>
        <p:nvSpPr>
          <p:cNvPr id="32" name="Google Shape;32;p2"/>
          <p:cNvSpPr/>
          <p:nvPr/>
        </p:nvSpPr>
        <p:spPr>
          <a:xfrm>
            <a:off x="548640" y="3246120"/>
            <a:ext cx="777240" cy="77724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txBox="1"/>
          <p:nvPr/>
        </p:nvSpPr>
        <p:spPr>
          <a:xfrm>
            <a:off x="548640" y="324612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2200"/>
              <a:buFont typeface="Cambria"/>
              <a:buNone/>
            </a:pPr>
            <a:r>
              <a:rPr b="1" i="0" lang="en-US" sz="2200" u="none" cap="none" strike="noStrike">
                <a:solidFill>
                  <a:srgbClr val="10163B"/>
                </a:solidFill>
                <a:latin typeface="Cambria"/>
                <a:ea typeface="Cambria"/>
                <a:cs typeface="Cambria"/>
                <a:sym typeface="Cambria"/>
              </a:rPr>
              <a:t>1</a:t>
            </a:r>
            <a:endParaRPr b="0" i="0" sz="2200" u="none" cap="none" strike="noStrike">
              <a:solidFill>
                <a:schemeClr val="dk1"/>
              </a:solidFill>
              <a:latin typeface="Calibri"/>
              <a:ea typeface="Calibri"/>
              <a:cs typeface="Calibri"/>
              <a:sym typeface="Calibri"/>
            </a:endParaRPr>
          </a:p>
        </p:txBody>
      </p:sp>
      <p:sp>
        <p:nvSpPr>
          <p:cNvPr id="34" name="Google Shape;34;p2"/>
          <p:cNvSpPr txBox="1"/>
          <p:nvPr/>
        </p:nvSpPr>
        <p:spPr>
          <a:xfrm>
            <a:off x="137160" y="4133088"/>
            <a:ext cx="16002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1050"/>
              <a:buFont typeface="Calibri"/>
              <a:buNone/>
            </a:pPr>
            <a:r>
              <a:rPr b="1" i="0" lang="en-US" sz="1050" u="none" cap="none" strike="noStrike">
                <a:solidFill>
                  <a:srgbClr val="10163B"/>
                </a:solidFill>
                <a:latin typeface="Calibri"/>
                <a:ea typeface="Calibri"/>
                <a:cs typeface="Calibri"/>
                <a:sym typeface="Calibri"/>
              </a:rPr>
              <a:t>Εκκίνηση</a:t>
            </a:r>
            <a:endParaRPr b="0" i="0" sz="1050" u="none" cap="none" strike="noStrike">
              <a:solidFill>
                <a:schemeClr val="dk1"/>
              </a:solidFill>
              <a:latin typeface="Calibri"/>
              <a:ea typeface="Calibri"/>
              <a:cs typeface="Calibri"/>
              <a:sym typeface="Calibri"/>
            </a:endParaRPr>
          </a:p>
        </p:txBody>
      </p:sp>
      <p:sp>
        <p:nvSpPr>
          <p:cNvPr id="35" name="Google Shape;35;p2"/>
          <p:cNvSpPr/>
          <p:nvPr/>
        </p:nvSpPr>
        <p:spPr>
          <a:xfrm>
            <a:off x="2018211" y="3246120"/>
            <a:ext cx="777240" cy="77724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txBox="1"/>
          <p:nvPr/>
        </p:nvSpPr>
        <p:spPr>
          <a:xfrm>
            <a:off x="2018211" y="324612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2200"/>
              <a:buFont typeface="Cambria"/>
              <a:buNone/>
            </a:pPr>
            <a:r>
              <a:rPr b="1" i="0" lang="en-US" sz="2200" u="none" cap="none" strike="noStrike">
                <a:solidFill>
                  <a:srgbClr val="10163B"/>
                </a:solidFill>
                <a:latin typeface="Cambria"/>
                <a:ea typeface="Cambria"/>
                <a:cs typeface="Cambria"/>
                <a:sym typeface="Cambria"/>
              </a:rPr>
              <a:t>2</a:t>
            </a:r>
            <a:endParaRPr b="0" i="0" sz="2200" u="none" cap="none" strike="noStrike">
              <a:solidFill>
                <a:schemeClr val="dk1"/>
              </a:solidFill>
              <a:latin typeface="Calibri"/>
              <a:ea typeface="Calibri"/>
              <a:cs typeface="Calibri"/>
              <a:sym typeface="Calibri"/>
            </a:endParaRPr>
          </a:p>
        </p:txBody>
      </p:sp>
      <p:sp>
        <p:nvSpPr>
          <p:cNvPr id="37" name="Google Shape;37;p2"/>
          <p:cNvSpPr txBox="1"/>
          <p:nvPr/>
        </p:nvSpPr>
        <p:spPr>
          <a:xfrm>
            <a:off x="1606731" y="4133088"/>
            <a:ext cx="16002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1050"/>
              <a:buFont typeface="Calibri"/>
              <a:buNone/>
            </a:pPr>
            <a:r>
              <a:rPr b="1" i="0" lang="en-US" sz="1050" u="none" cap="none" strike="noStrike">
                <a:solidFill>
                  <a:srgbClr val="10163B"/>
                </a:solidFill>
                <a:latin typeface="Calibri"/>
                <a:ea typeface="Calibri"/>
                <a:cs typeface="Calibri"/>
                <a:sym typeface="Calibri"/>
              </a:rPr>
              <a:t>Ασφάλεια</a:t>
            </a:r>
            <a:endParaRPr b="0" i="0" sz="1050" u="none" cap="none" strike="noStrike">
              <a:solidFill>
                <a:schemeClr val="dk1"/>
              </a:solidFill>
              <a:latin typeface="Calibri"/>
              <a:ea typeface="Calibri"/>
              <a:cs typeface="Calibri"/>
              <a:sym typeface="Calibri"/>
            </a:endParaRPr>
          </a:p>
        </p:txBody>
      </p:sp>
      <p:sp>
        <p:nvSpPr>
          <p:cNvPr id="38" name="Google Shape;38;p2"/>
          <p:cNvSpPr/>
          <p:nvPr/>
        </p:nvSpPr>
        <p:spPr>
          <a:xfrm>
            <a:off x="3487783" y="3246120"/>
            <a:ext cx="777240" cy="77724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txBox="1"/>
          <p:nvPr/>
        </p:nvSpPr>
        <p:spPr>
          <a:xfrm>
            <a:off x="3487783" y="324612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2200"/>
              <a:buFont typeface="Cambria"/>
              <a:buNone/>
            </a:pPr>
            <a:r>
              <a:rPr b="1" i="0" lang="en-US" sz="2200" u="none" cap="none" strike="noStrike">
                <a:solidFill>
                  <a:srgbClr val="10163B"/>
                </a:solidFill>
                <a:latin typeface="Cambria"/>
                <a:ea typeface="Cambria"/>
                <a:cs typeface="Cambria"/>
                <a:sym typeface="Cambria"/>
              </a:rPr>
              <a:t>3</a:t>
            </a:r>
            <a:endParaRPr b="0" i="0" sz="2200" u="none" cap="none" strike="noStrike">
              <a:solidFill>
                <a:schemeClr val="dk1"/>
              </a:solidFill>
              <a:latin typeface="Calibri"/>
              <a:ea typeface="Calibri"/>
              <a:cs typeface="Calibri"/>
              <a:sym typeface="Calibri"/>
            </a:endParaRPr>
          </a:p>
        </p:txBody>
      </p:sp>
      <p:sp>
        <p:nvSpPr>
          <p:cNvPr id="40" name="Google Shape;40;p2"/>
          <p:cNvSpPr txBox="1"/>
          <p:nvPr/>
        </p:nvSpPr>
        <p:spPr>
          <a:xfrm>
            <a:off x="3076303" y="4133088"/>
            <a:ext cx="16002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1050"/>
              <a:buFont typeface="Calibri"/>
              <a:buNone/>
            </a:pPr>
            <a:r>
              <a:rPr b="1" i="0" lang="en-US" sz="1050" u="none" cap="none" strike="noStrike">
                <a:solidFill>
                  <a:srgbClr val="10163B"/>
                </a:solidFill>
                <a:latin typeface="Calibri"/>
                <a:ea typeface="Calibri"/>
                <a:cs typeface="Calibri"/>
                <a:sym typeface="Calibri"/>
              </a:rPr>
              <a:t>Branding</a:t>
            </a:r>
            <a:endParaRPr b="0" i="0" sz="1050" u="none" cap="none" strike="noStrike">
              <a:solidFill>
                <a:schemeClr val="dk1"/>
              </a:solidFill>
              <a:latin typeface="Calibri"/>
              <a:ea typeface="Calibri"/>
              <a:cs typeface="Calibri"/>
              <a:sym typeface="Calibri"/>
            </a:endParaRPr>
          </a:p>
        </p:txBody>
      </p:sp>
      <p:sp>
        <p:nvSpPr>
          <p:cNvPr id="41" name="Google Shape;41;p2"/>
          <p:cNvSpPr/>
          <p:nvPr/>
        </p:nvSpPr>
        <p:spPr>
          <a:xfrm>
            <a:off x="4957354" y="3246120"/>
            <a:ext cx="777240" cy="77724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txBox="1"/>
          <p:nvPr/>
        </p:nvSpPr>
        <p:spPr>
          <a:xfrm>
            <a:off x="4957354" y="324612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2200"/>
              <a:buFont typeface="Cambria"/>
              <a:buNone/>
            </a:pPr>
            <a:r>
              <a:rPr b="1" i="0" lang="en-US" sz="2200" u="none" cap="none" strike="noStrike">
                <a:solidFill>
                  <a:srgbClr val="10163B"/>
                </a:solidFill>
                <a:latin typeface="Cambria"/>
                <a:ea typeface="Cambria"/>
                <a:cs typeface="Cambria"/>
                <a:sym typeface="Cambria"/>
              </a:rPr>
              <a:t>4</a:t>
            </a:r>
            <a:endParaRPr b="0" i="0" sz="2200" u="none" cap="none" strike="noStrike">
              <a:solidFill>
                <a:schemeClr val="dk1"/>
              </a:solidFill>
              <a:latin typeface="Calibri"/>
              <a:ea typeface="Calibri"/>
              <a:cs typeface="Calibri"/>
              <a:sym typeface="Calibri"/>
            </a:endParaRPr>
          </a:p>
        </p:txBody>
      </p:sp>
      <p:sp>
        <p:nvSpPr>
          <p:cNvPr id="43" name="Google Shape;43;p2"/>
          <p:cNvSpPr txBox="1"/>
          <p:nvPr/>
        </p:nvSpPr>
        <p:spPr>
          <a:xfrm>
            <a:off x="4545874" y="4133088"/>
            <a:ext cx="16002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1050"/>
              <a:buFont typeface="Calibri"/>
              <a:buNone/>
            </a:pPr>
            <a:r>
              <a:rPr b="1" i="0" lang="en-US" sz="1050" u="none" cap="none" strike="noStrike">
                <a:solidFill>
                  <a:srgbClr val="10163B"/>
                </a:solidFill>
                <a:latin typeface="Calibri"/>
                <a:ea typeface="Calibri"/>
                <a:cs typeface="Calibri"/>
                <a:sym typeface="Calibri"/>
              </a:rPr>
              <a:t>Τόνος</a:t>
            </a:r>
            <a:endParaRPr b="0" i="0" sz="1050" u="none" cap="none" strike="noStrike">
              <a:solidFill>
                <a:schemeClr val="dk1"/>
              </a:solidFill>
              <a:latin typeface="Calibri"/>
              <a:ea typeface="Calibri"/>
              <a:cs typeface="Calibri"/>
              <a:sym typeface="Calibri"/>
            </a:endParaRPr>
          </a:p>
        </p:txBody>
      </p:sp>
      <p:sp>
        <p:nvSpPr>
          <p:cNvPr id="44" name="Google Shape;44;p2"/>
          <p:cNvSpPr/>
          <p:nvPr/>
        </p:nvSpPr>
        <p:spPr>
          <a:xfrm>
            <a:off x="6426926" y="3246120"/>
            <a:ext cx="777240" cy="77724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txBox="1"/>
          <p:nvPr/>
        </p:nvSpPr>
        <p:spPr>
          <a:xfrm>
            <a:off x="6426926" y="324612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2200"/>
              <a:buFont typeface="Cambria"/>
              <a:buNone/>
            </a:pPr>
            <a:r>
              <a:rPr b="1" i="0" lang="en-US" sz="2200" u="none" cap="none" strike="noStrike">
                <a:solidFill>
                  <a:srgbClr val="10163B"/>
                </a:solidFill>
                <a:latin typeface="Cambria"/>
                <a:ea typeface="Cambria"/>
                <a:cs typeface="Cambria"/>
                <a:sym typeface="Cambria"/>
              </a:rPr>
              <a:t>5</a:t>
            </a:r>
            <a:endParaRPr b="0" i="0" sz="2200" u="none" cap="none" strike="noStrike">
              <a:solidFill>
                <a:schemeClr val="dk1"/>
              </a:solidFill>
              <a:latin typeface="Calibri"/>
              <a:ea typeface="Calibri"/>
              <a:cs typeface="Calibri"/>
              <a:sym typeface="Calibri"/>
            </a:endParaRPr>
          </a:p>
        </p:txBody>
      </p:sp>
      <p:sp>
        <p:nvSpPr>
          <p:cNvPr id="46" name="Google Shape;46;p2"/>
          <p:cNvSpPr txBox="1"/>
          <p:nvPr/>
        </p:nvSpPr>
        <p:spPr>
          <a:xfrm>
            <a:off x="6015446" y="4133088"/>
            <a:ext cx="16002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1050"/>
              <a:buFont typeface="Calibri"/>
              <a:buNone/>
            </a:pPr>
            <a:r>
              <a:rPr b="1" i="0" lang="en-US" sz="1050" u="none" cap="none" strike="noStrike">
                <a:solidFill>
                  <a:srgbClr val="10163B"/>
                </a:solidFill>
                <a:latin typeface="Calibri"/>
                <a:ea typeface="Calibri"/>
                <a:cs typeface="Calibri"/>
                <a:sym typeface="Calibri"/>
              </a:rPr>
              <a:t>Βασικός βρόχος</a:t>
            </a:r>
            <a:endParaRPr b="0" i="0" sz="1050" u="none" cap="none" strike="noStrike">
              <a:solidFill>
                <a:schemeClr val="dk1"/>
              </a:solidFill>
              <a:latin typeface="Calibri"/>
              <a:ea typeface="Calibri"/>
              <a:cs typeface="Calibri"/>
              <a:sym typeface="Calibri"/>
            </a:endParaRPr>
          </a:p>
        </p:txBody>
      </p:sp>
      <p:sp>
        <p:nvSpPr>
          <p:cNvPr id="47" name="Google Shape;47;p2"/>
          <p:cNvSpPr/>
          <p:nvPr/>
        </p:nvSpPr>
        <p:spPr>
          <a:xfrm>
            <a:off x="7896497" y="3246120"/>
            <a:ext cx="777240" cy="77724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txBox="1"/>
          <p:nvPr/>
        </p:nvSpPr>
        <p:spPr>
          <a:xfrm>
            <a:off x="7896497" y="324612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2200"/>
              <a:buFont typeface="Cambria"/>
              <a:buNone/>
            </a:pPr>
            <a:r>
              <a:rPr b="1" i="0" lang="en-US" sz="2200" u="none" cap="none" strike="noStrike">
                <a:solidFill>
                  <a:srgbClr val="10163B"/>
                </a:solidFill>
                <a:latin typeface="Cambria"/>
                <a:ea typeface="Cambria"/>
                <a:cs typeface="Cambria"/>
                <a:sym typeface="Cambria"/>
              </a:rPr>
              <a:t>6</a:t>
            </a:r>
            <a:endParaRPr b="0" i="0" sz="2200" u="none" cap="none" strike="noStrike">
              <a:solidFill>
                <a:schemeClr val="dk1"/>
              </a:solidFill>
              <a:latin typeface="Calibri"/>
              <a:ea typeface="Calibri"/>
              <a:cs typeface="Calibri"/>
              <a:sym typeface="Calibri"/>
            </a:endParaRPr>
          </a:p>
        </p:txBody>
      </p:sp>
      <p:sp>
        <p:nvSpPr>
          <p:cNvPr id="49" name="Google Shape;49;p2"/>
          <p:cNvSpPr txBox="1"/>
          <p:nvPr/>
        </p:nvSpPr>
        <p:spPr>
          <a:xfrm>
            <a:off x="7485017" y="4133088"/>
            <a:ext cx="16002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1050"/>
              <a:buFont typeface="Calibri"/>
              <a:buNone/>
            </a:pPr>
            <a:r>
              <a:rPr b="1" i="0" lang="en-US" sz="1050" u="none" cap="none" strike="noStrike">
                <a:solidFill>
                  <a:srgbClr val="10163B"/>
                </a:solidFill>
                <a:latin typeface="Calibri"/>
                <a:ea typeface="Calibri"/>
                <a:cs typeface="Calibri"/>
                <a:sym typeface="Calibri"/>
              </a:rPr>
              <a:t>Εγγυημένη ευκαιρία</a:t>
            </a:r>
            <a:endParaRPr b="0" i="0" sz="1050" u="none" cap="none" strike="noStrike">
              <a:solidFill>
                <a:schemeClr val="dk1"/>
              </a:solidFill>
              <a:latin typeface="Calibri"/>
              <a:ea typeface="Calibri"/>
              <a:cs typeface="Calibri"/>
              <a:sym typeface="Calibri"/>
            </a:endParaRPr>
          </a:p>
        </p:txBody>
      </p:sp>
      <p:sp>
        <p:nvSpPr>
          <p:cNvPr id="50" name="Google Shape;50;p2"/>
          <p:cNvSpPr/>
          <p:nvPr/>
        </p:nvSpPr>
        <p:spPr>
          <a:xfrm>
            <a:off x="9366069" y="3246120"/>
            <a:ext cx="777240" cy="77724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2"/>
          <p:cNvSpPr txBox="1"/>
          <p:nvPr/>
        </p:nvSpPr>
        <p:spPr>
          <a:xfrm>
            <a:off x="9366069" y="324612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2200"/>
              <a:buFont typeface="Cambria"/>
              <a:buNone/>
            </a:pPr>
            <a:r>
              <a:rPr b="1" i="0" lang="en-US" sz="2200" u="none" cap="none" strike="noStrike">
                <a:solidFill>
                  <a:srgbClr val="10163B"/>
                </a:solidFill>
                <a:latin typeface="Cambria"/>
                <a:ea typeface="Cambria"/>
                <a:cs typeface="Cambria"/>
                <a:sym typeface="Cambria"/>
              </a:rPr>
              <a:t>7</a:t>
            </a:r>
            <a:endParaRPr b="0" i="0" sz="2200" u="none" cap="none" strike="noStrike">
              <a:solidFill>
                <a:schemeClr val="dk1"/>
              </a:solidFill>
              <a:latin typeface="Calibri"/>
              <a:ea typeface="Calibri"/>
              <a:cs typeface="Calibri"/>
              <a:sym typeface="Calibri"/>
            </a:endParaRPr>
          </a:p>
        </p:txBody>
      </p:sp>
      <p:sp>
        <p:nvSpPr>
          <p:cNvPr id="52" name="Google Shape;52;p2"/>
          <p:cNvSpPr txBox="1"/>
          <p:nvPr/>
        </p:nvSpPr>
        <p:spPr>
          <a:xfrm>
            <a:off x="8954589" y="4133088"/>
            <a:ext cx="16002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1050"/>
              <a:buFont typeface="Calibri"/>
              <a:buNone/>
            </a:pPr>
            <a:r>
              <a:rPr b="1" i="0" lang="en-US" sz="1050" u="none" cap="none" strike="noStrike">
                <a:solidFill>
                  <a:srgbClr val="10163B"/>
                </a:solidFill>
                <a:latin typeface="Calibri"/>
                <a:ea typeface="Calibri"/>
                <a:cs typeface="Calibri"/>
                <a:sym typeface="Calibri"/>
              </a:rPr>
              <a:t>Finale</a:t>
            </a:r>
            <a:endParaRPr b="0" i="0" sz="1050" u="none" cap="none" strike="noStrike">
              <a:solidFill>
                <a:schemeClr val="dk1"/>
              </a:solidFill>
              <a:latin typeface="Calibri"/>
              <a:ea typeface="Calibri"/>
              <a:cs typeface="Calibri"/>
              <a:sym typeface="Calibri"/>
            </a:endParaRPr>
          </a:p>
        </p:txBody>
      </p:sp>
      <p:sp>
        <p:nvSpPr>
          <p:cNvPr id="53" name="Google Shape;53;p2"/>
          <p:cNvSpPr/>
          <p:nvPr/>
        </p:nvSpPr>
        <p:spPr>
          <a:xfrm>
            <a:off x="10835640" y="3246120"/>
            <a:ext cx="777240" cy="77724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2"/>
          <p:cNvSpPr txBox="1"/>
          <p:nvPr/>
        </p:nvSpPr>
        <p:spPr>
          <a:xfrm>
            <a:off x="10835640" y="3246120"/>
            <a:ext cx="7772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2200"/>
              <a:buFont typeface="Cambria"/>
              <a:buNone/>
            </a:pPr>
            <a:r>
              <a:rPr b="1" i="0" lang="en-US" sz="2200" u="none" cap="none" strike="noStrike">
                <a:solidFill>
                  <a:srgbClr val="10163B"/>
                </a:solidFill>
                <a:latin typeface="Cambria"/>
                <a:ea typeface="Cambria"/>
                <a:cs typeface="Cambria"/>
                <a:sym typeface="Cambria"/>
              </a:rPr>
              <a:t>8</a:t>
            </a:r>
            <a:endParaRPr b="0" i="0" sz="2200" u="none" cap="none" strike="noStrike">
              <a:solidFill>
                <a:schemeClr val="dk1"/>
              </a:solidFill>
              <a:latin typeface="Calibri"/>
              <a:ea typeface="Calibri"/>
              <a:cs typeface="Calibri"/>
              <a:sym typeface="Calibri"/>
            </a:endParaRPr>
          </a:p>
        </p:txBody>
      </p:sp>
      <p:sp>
        <p:nvSpPr>
          <p:cNvPr id="55" name="Google Shape;55;p2"/>
          <p:cNvSpPr txBox="1"/>
          <p:nvPr/>
        </p:nvSpPr>
        <p:spPr>
          <a:xfrm>
            <a:off x="10424160" y="4133088"/>
            <a:ext cx="1600200" cy="5943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1050"/>
              <a:buFont typeface="Calibri"/>
              <a:buNone/>
            </a:pPr>
            <a:r>
              <a:rPr b="1" i="0" lang="en-US" sz="1050" u="none" cap="none" strike="noStrike">
                <a:solidFill>
                  <a:srgbClr val="10163B"/>
                </a:solidFill>
                <a:latin typeface="Calibri"/>
                <a:ea typeface="Calibri"/>
                <a:cs typeface="Calibri"/>
                <a:sym typeface="Calibri"/>
              </a:rPr>
              <a:t>Ομαλό κλείσιμο</a:t>
            </a:r>
            <a:endParaRPr b="0" i="0" sz="1050" u="none" cap="none" strike="noStrike">
              <a:solidFill>
                <a:schemeClr val="dk1"/>
              </a:solidFill>
              <a:latin typeface="Calibri"/>
              <a:ea typeface="Calibri"/>
              <a:cs typeface="Calibri"/>
              <a:sym typeface="Calibri"/>
            </a:endParaRPr>
          </a:p>
        </p:txBody>
      </p:sp>
      <p:sp>
        <p:nvSpPr>
          <p:cNvPr id="56" name="Google Shape;56;p2"/>
          <p:cNvSpPr txBox="1"/>
          <p:nvPr/>
        </p:nvSpPr>
        <p:spPr>
          <a:xfrm>
            <a:off x="548640" y="5394960"/>
            <a:ext cx="10515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F7A"/>
              </a:buClr>
              <a:buSzPts val="1100"/>
              <a:buFont typeface="Calibri"/>
              <a:buNone/>
            </a:pPr>
            <a:r>
              <a:rPr b="0" i="1" lang="en-US" sz="1100" u="none" cap="none" strike="noStrike">
                <a:solidFill>
                  <a:srgbClr val="5B5F7A"/>
                </a:solidFill>
                <a:latin typeface="Calibri"/>
                <a:ea typeface="Calibri"/>
                <a:cs typeface="Calibri"/>
                <a:sym typeface="Calibri"/>
              </a:rPr>
              <a:t>Το KINO Boost είναι ένας από τους μηχανισμούς παιχνιδιού, αλλά παραμένει ανενεργός στο launch.</a:t>
            </a:r>
            <a:endParaRPr b="0" i="0" sz="1100" u="none" cap="none" strike="noStrike">
              <a:solidFill>
                <a:schemeClr val="dk1"/>
              </a:solidFill>
              <a:latin typeface="Calibri"/>
              <a:ea typeface="Calibri"/>
              <a:cs typeface="Calibri"/>
              <a:sym typeface="Calibri"/>
            </a:endParaRPr>
          </a:p>
        </p:txBody>
      </p:sp>
      <p:sp>
        <p:nvSpPr>
          <p:cNvPr id="57" name="Google Shape;57;p2"/>
          <p:cNvSpPr txBox="1"/>
          <p:nvPr/>
        </p:nvSpPr>
        <p:spPr>
          <a:xfrm>
            <a:off x="45720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KINO VR  ·  Ροή Εμπειρίας</a:t>
            </a:r>
            <a:endParaRPr b="0" i="0" sz="900" u="none" cap="none" strike="noStrike">
              <a:solidFill>
                <a:schemeClr val="dk1"/>
              </a:solidFill>
              <a:latin typeface="Calibri"/>
              <a:ea typeface="Calibri"/>
              <a:cs typeface="Calibri"/>
              <a:sym typeface="Calibri"/>
            </a:endParaRPr>
          </a:p>
        </p:txBody>
      </p:sp>
      <p:sp>
        <p:nvSpPr>
          <p:cNvPr id="58" name="Google Shape;58;p2"/>
          <p:cNvSpPr txBox="1"/>
          <p:nvPr/>
        </p:nvSpPr>
        <p:spPr>
          <a:xfrm>
            <a:off x="1127729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2</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3" name="Shape 63"/>
        <p:cNvGrpSpPr/>
        <p:nvPr/>
      </p:nvGrpSpPr>
      <p:grpSpPr>
        <a:xfrm>
          <a:off x="0" y="0"/>
          <a:ext cx="0" cy="0"/>
          <a:chOff x="0" y="0"/>
          <a:chExt cx="0" cy="0"/>
        </a:xfrm>
      </p:grpSpPr>
      <p:sp>
        <p:nvSpPr>
          <p:cNvPr id="64" name="Google Shape;64;p3"/>
          <p:cNvSpPr/>
          <p:nvPr/>
        </p:nvSpPr>
        <p:spPr>
          <a:xfrm>
            <a:off x="640080" y="594360"/>
            <a:ext cx="1188720" cy="118872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txBox="1"/>
          <p:nvPr/>
        </p:nvSpPr>
        <p:spPr>
          <a:xfrm>
            <a:off x="640080" y="594360"/>
            <a:ext cx="118872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4000"/>
              <a:buFont typeface="Cambria"/>
              <a:buNone/>
            </a:pPr>
            <a:r>
              <a:rPr b="1" i="0" lang="en-US" sz="4000" u="none" cap="none" strike="noStrike">
                <a:solidFill>
                  <a:srgbClr val="10163B"/>
                </a:solidFill>
                <a:latin typeface="Cambria"/>
                <a:ea typeface="Cambria"/>
                <a:cs typeface="Cambria"/>
                <a:sym typeface="Cambria"/>
              </a:rPr>
              <a:t>1</a:t>
            </a:r>
            <a:endParaRPr b="0" i="0" sz="4000" u="none" cap="none" strike="noStrike">
              <a:solidFill>
                <a:schemeClr val="dk1"/>
              </a:solidFill>
              <a:latin typeface="Calibri"/>
              <a:ea typeface="Calibri"/>
              <a:cs typeface="Calibri"/>
              <a:sym typeface="Calibri"/>
            </a:endParaRPr>
          </a:p>
        </p:txBody>
      </p:sp>
      <p:sp>
        <p:nvSpPr>
          <p:cNvPr id="66" name="Google Shape;66;p3"/>
          <p:cNvSpPr txBox="1"/>
          <p:nvPr/>
        </p:nvSpPr>
        <p:spPr>
          <a:xfrm>
            <a:off x="2148840" y="6583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ΣΤΑΔΙΟ 1 / 8</a:t>
            </a:r>
            <a:endParaRPr b="0" i="0" sz="1200" u="none" cap="none" strike="noStrike">
              <a:solidFill>
                <a:schemeClr val="dk1"/>
              </a:solidFill>
              <a:latin typeface="Calibri"/>
              <a:ea typeface="Calibri"/>
              <a:cs typeface="Calibri"/>
              <a:sym typeface="Calibri"/>
            </a:endParaRPr>
          </a:p>
        </p:txBody>
      </p:sp>
      <p:sp>
        <p:nvSpPr>
          <p:cNvPr id="67" name="Google Shape;67;p3"/>
          <p:cNvSpPr txBox="1"/>
          <p:nvPr/>
        </p:nvSpPr>
        <p:spPr>
          <a:xfrm>
            <a:off x="2103120" y="960120"/>
            <a:ext cx="8686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63B"/>
              </a:buClr>
              <a:buSzPts val="3200"/>
              <a:buFont typeface="Cambria"/>
              <a:buNone/>
            </a:pPr>
            <a:r>
              <a:rPr b="1" i="0" lang="en-US" sz="3200" u="none" cap="none" strike="noStrike">
                <a:solidFill>
                  <a:srgbClr val="10163B"/>
                </a:solidFill>
                <a:latin typeface="Cambria"/>
                <a:ea typeface="Cambria"/>
                <a:cs typeface="Cambria"/>
                <a:sym typeface="Cambria"/>
              </a:rPr>
              <a:t>Τοποθέτηση Headset</a:t>
            </a:r>
            <a:endParaRPr b="0" i="0" sz="3200" u="none" cap="none" strike="noStrike">
              <a:solidFill>
                <a:schemeClr val="dk1"/>
              </a:solidFill>
              <a:latin typeface="Calibri"/>
              <a:ea typeface="Calibri"/>
              <a:cs typeface="Calibri"/>
              <a:sym typeface="Calibri"/>
            </a:endParaRPr>
          </a:p>
        </p:txBody>
      </p:sp>
      <p:cxnSp>
        <p:nvCxnSpPr>
          <p:cNvPr id="68" name="Google Shape;68;p3"/>
          <p:cNvCxnSpPr/>
          <p:nvPr/>
        </p:nvCxnSpPr>
        <p:spPr>
          <a:xfrm>
            <a:off x="2304288" y="2212848"/>
            <a:ext cx="8421624" cy="0"/>
          </a:xfrm>
          <a:prstGeom prst="straightConnector1">
            <a:avLst/>
          </a:prstGeom>
          <a:noFill/>
          <a:ln cap="flat" cmpd="sng" w="25400">
            <a:solidFill>
              <a:srgbClr val="E3E3EE"/>
            </a:solidFill>
            <a:prstDash val="solid"/>
            <a:round/>
            <a:headEnd len="sm" w="sm" type="none"/>
            <a:tailEnd len="sm" w="sm" type="none"/>
          </a:ln>
        </p:spPr>
      </p:cxnSp>
      <p:sp>
        <p:nvSpPr>
          <p:cNvPr id="69" name="Google Shape;69;p3"/>
          <p:cNvSpPr/>
          <p:nvPr/>
        </p:nvSpPr>
        <p:spPr>
          <a:xfrm>
            <a:off x="2148840" y="2057400"/>
            <a:ext cx="310896" cy="310896"/>
          </a:xfrm>
          <a:prstGeom prst="ellipse">
            <a:avLst/>
          </a:prstGeom>
          <a:solidFill>
            <a:srgbClr val="C9A227"/>
          </a:solidFill>
          <a:ln cap="flat" cmpd="sng" w="1270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3351929"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3"/>
          <p:cNvSpPr/>
          <p:nvPr/>
        </p:nvSpPr>
        <p:spPr>
          <a:xfrm>
            <a:off x="4555018"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3"/>
          <p:cNvSpPr/>
          <p:nvPr/>
        </p:nvSpPr>
        <p:spPr>
          <a:xfrm>
            <a:off x="5758107"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6961197"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8164286"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9367375"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3"/>
          <p:cNvSpPr/>
          <p:nvPr/>
        </p:nvSpPr>
        <p:spPr>
          <a:xfrm>
            <a:off x="10570464"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3"/>
          <p:cNvSpPr/>
          <p:nvPr/>
        </p:nvSpPr>
        <p:spPr>
          <a:xfrm>
            <a:off x="2103120" y="2697480"/>
            <a:ext cx="9144000" cy="3246120"/>
          </a:xfrm>
          <a:prstGeom prst="roundRect">
            <a:avLst>
              <a:gd fmla="val 3380" name="adj"/>
            </a:avLst>
          </a:prstGeom>
          <a:solidFill>
            <a:srgbClr val="F2F3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txBox="1"/>
          <p:nvPr/>
        </p:nvSpPr>
        <p:spPr>
          <a:xfrm>
            <a:off x="2514600" y="2971800"/>
            <a:ext cx="8366760" cy="27432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71B3B"/>
              </a:buClr>
              <a:buSzPts val="1550"/>
              <a:buFont typeface="Calibri"/>
              <a:buNone/>
            </a:pPr>
            <a:r>
              <a:rPr b="0" i="0" lang="en-US" sz="1550" u="none" cap="none" strike="noStrike">
                <a:solidFill>
                  <a:srgbClr val="171B3B"/>
                </a:solidFill>
                <a:latin typeface="Calibri"/>
                <a:ea typeface="Calibri"/>
                <a:cs typeface="Calibri"/>
                <a:sym typeface="Calibri"/>
              </a:rPr>
              <a:t>Τη στιγμή που ο χρήστης φοράει το headset, η εφαρμογή είναι ήδη φορτωμένη και έτοιμη — καμία περιστρεφόμενη ένδειξη φόρτωσης. Μια σύντομη μαύρη οθόνη ή ένα ήπιο fade-in καλύπτει την τελική αρχικοποίηση και δίνει στα μάτια μια στιγμή προσαρμογής πριν εμφανιστεί το περιεχόμενο.</a:t>
            </a:r>
            <a:endParaRPr b="0" i="0" sz="1550" u="none" cap="none" strike="noStrike">
              <a:solidFill>
                <a:schemeClr val="dk1"/>
              </a:solidFill>
              <a:latin typeface="Calibri"/>
              <a:ea typeface="Calibri"/>
              <a:cs typeface="Calibri"/>
              <a:sym typeface="Calibri"/>
            </a:endParaRPr>
          </a:p>
        </p:txBody>
      </p:sp>
      <p:sp>
        <p:nvSpPr>
          <p:cNvPr id="79" name="Google Shape;79;p3"/>
          <p:cNvSpPr txBox="1"/>
          <p:nvPr/>
        </p:nvSpPr>
        <p:spPr>
          <a:xfrm>
            <a:off x="45720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KINO VR  ·  Ροή Εμπειρίας</a:t>
            </a:r>
            <a:endParaRPr b="0" i="0" sz="900" u="none" cap="none" strike="noStrike">
              <a:solidFill>
                <a:schemeClr val="dk1"/>
              </a:solidFill>
              <a:latin typeface="Calibri"/>
              <a:ea typeface="Calibri"/>
              <a:cs typeface="Calibri"/>
              <a:sym typeface="Calibri"/>
            </a:endParaRPr>
          </a:p>
        </p:txBody>
      </p:sp>
      <p:sp>
        <p:nvSpPr>
          <p:cNvPr id="80" name="Google Shape;80;p3"/>
          <p:cNvSpPr txBox="1"/>
          <p:nvPr/>
        </p:nvSpPr>
        <p:spPr>
          <a:xfrm>
            <a:off x="1127729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3</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5" name="Shape 85"/>
        <p:cNvGrpSpPr/>
        <p:nvPr/>
      </p:nvGrpSpPr>
      <p:grpSpPr>
        <a:xfrm>
          <a:off x="0" y="0"/>
          <a:ext cx="0" cy="0"/>
          <a:chOff x="0" y="0"/>
          <a:chExt cx="0" cy="0"/>
        </a:xfrm>
      </p:grpSpPr>
      <p:sp>
        <p:nvSpPr>
          <p:cNvPr id="86" name="Google Shape;86;p4"/>
          <p:cNvSpPr/>
          <p:nvPr/>
        </p:nvSpPr>
        <p:spPr>
          <a:xfrm>
            <a:off x="640080" y="594360"/>
            <a:ext cx="1188720" cy="118872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txBox="1"/>
          <p:nvPr/>
        </p:nvSpPr>
        <p:spPr>
          <a:xfrm>
            <a:off x="640080" y="594360"/>
            <a:ext cx="118872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4000"/>
              <a:buFont typeface="Cambria"/>
              <a:buNone/>
            </a:pPr>
            <a:r>
              <a:rPr b="1" i="0" lang="en-US" sz="4000" u="none" cap="none" strike="noStrike">
                <a:solidFill>
                  <a:srgbClr val="10163B"/>
                </a:solidFill>
                <a:latin typeface="Cambria"/>
                <a:ea typeface="Cambria"/>
                <a:cs typeface="Cambria"/>
                <a:sym typeface="Cambria"/>
              </a:rPr>
              <a:t>2</a:t>
            </a:r>
            <a:endParaRPr b="0" i="0" sz="4000" u="none" cap="none" strike="noStrike">
              <a:solidFill>
                <a:schemeClr val="dk1"/>
              </a:solidFill>
              <a:latin typeface="Calibri"/>
              <a:ea typeface="Calibri"/>
              <a:cs typeface="Calibri"/>
              <a:sym typeface="Calibri"/>
            </a:endParaRPr>
          </a:p>
        </p:txBody>
      </p:sp>
      <p:sp>
        <p:nvSpPr>
          <p:cNvPr id="88" name="Google Shape;88;p4"/>
          <p:cNvSpPr txBox="1"/>
          <p:nvPr/>
        </p:nvSpPr>
        <p:spPr>
          <a:xfrm>
            <a:off x="2148840" y="6583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ΣΤΑΔΙΟ 2 / 8</a:t>
            </a:r>
            <a:endParaRPr b="0" i="0" sz="1200" u="none" cap="none" strike="noStrike">
              <a:solidFill>
                <a:schemeClr val="dk1"/>
              </a:solidFill>
              <a:latin typeface="Calibri"/>
              <a:ea typeface="Calibri"/>
              <a:cs typeface="Calibri"/>
              <a:sym typeface="Calibri"/>
            </a:endParaRPr>
          </a:p>
        </p:txBody>
      </p:sp>
      <p:sp>
        <p:nvSpPr>
          <p:cNvPr id="89" name="Google Shape;89;p4"/>
          <p:cNvSpPr txBox="1"/>
          <p:nvPr/>
        </p:nvSpPr>
        <p:spPr>
          <a:xfrm>
            <a:off x="2103120" y="960120"/>
            <a:ext cx="8686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63B"/>
              </a:buClr>
              <a:buSzPts val="3200"/>
              <a:buFont typeface="Cambria"/>
              <a:buNone/>
            </a:pPr>
            <a:r>
              <a:rPr b="1" i="0" lang="en-US" sz="3200" u="none" cap="none" strike="noStrike">
                <a:solidFill>
                  <a:srgbClr val="10163B"/>
                </a:solidFill>
                <a:latin typeface="Cambria"/>
                <a:ea typeface="Cambria"/>
                <a:cs typeface="Cambria"/>
                <a:sym typeface="Cambria"/>
              </a:rPr>
              <a:t>Δήλωση Αποποίησης Ευθύνης</a:t>
            </a:r>
            <a:endParaRPr b="0" i="0" sz="3200" u="none" cap="none" strike="noStrike">
              <a:solidFill>
                <a:schemeClr val="dk1"/>
              </a:solidFill>
              <a:latin typeface="Calibri"/>
              <a:ea typeface="Calibri"/>
              <a:cs typeface="Calibri"/>
              <a:sym typeface="Calibri"/>
            </a:endParaRPr>
          </a:p>
        </p:txBody>
      </p:sp>
      <p:cxnSp>
        <p:nvCxnSpPr>
          <p:cNvPr id="90" name="Google Shape;90;p4"/>
          <p:cNvCxnSpPr/>
          <p:nvPr/>
        </p:nvCxnSpPr>
        <p:spPr>
          <a:xfrm>
            <a:off x="2304288" y="2212848"/>
            <a:ext cx="8421624" cy="0"/>
          </a:xfrm>
          <a:prstGeom prst="straightConnector1">
            <a:avLst/>
          </a:prstGeom>
          <a:noFill/>
          <a:ln cap="flat" cmpd="sng" w="25400">
            <a:solidFill>
              <a:srgbClr val="E3E3EE"/>
            </a:solidFill>
            <a:prstDash val="solid"/>
            <a:round/>
            <a:headEnd len="sm" w="sm" type="none"/>
            <a:tailEnd len="sm" w="sm" type="none"/>
          </a:ln>
        </p:spPr>
      </p:cxnSp>
      <p:sp>
        <p:nvSpPr>
          <p:cNvPr id="91" name="Google Shape;91;p4"/>
          <p:cNvSpPr/>
          <p:nvPr/>
        </p:nvSpPr>
        <p:spPr>
          <a:xfrm>
            <a:off x="2148840"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4"/>
          <p:cNvSpPr/>
          <p:nvPr/>
        </p:nvSpPr>
        <p:spPr>
          <a:xfrm>
            <a:off x="3351929" y="2057400"/>
            <a:ext cx="310896" cy="310896"/>
          </a:xfrm>
          <a:prstGeom prst="ellipse">
            <a:avLst/>
          </a:prstGeom>
          <a:solidFill>
            <a:srgbClr val="C9A227"/>
          </a:solidFill>
          <a:ln cap="flat" cmpd="sng" w="1270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4"/>
          <p:cNvSpPr/>
          <p:nvPr/>
        </p:nvSpPr>
        <p:spPr>
          <a:xfrm>
            <a:off x="4555018"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p:nvPr/>
        </p:nvSpPr>
        <p:spPr>
          <a:xfrm>
            <a:off x="5758107"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4"/>
          <p:cNvSpPr/>
          <p:nvPr/>
        </p:nvSpPr>
        <p:spPr>
          <a:xfrm>
            <a:off x="6961197"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4"/>
          <p:cNvSpPr/>
          <p:nvPr/>
        </p:nvSpPr>
        <p:spPr>
          <a:xfrm>
            <a:off x="8164286"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9367375"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4"/>
          <p:cNvSpPr/>
          <p:nvPr/>
        </p:nvSpPr>
        <p:spPr>
          <a:xfrm>
            <a:off x="10570464"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
          <p:cNvSpPr/>
          <p:nvPr/>
        </p:nvSpPr>
        <p:spPr>
          <a:xfrm>
            <a:off x="2103120" y="2697480"/>
            <a:ext cx="9144000" cy="3246120"/>
          </a:xfrm>
          <a:prstGeom prst="roundRect">
            <a:avLst>
              <a:gd fmla="val 3380" name="adj"/>
            </a:avLst>
          </a:prstGeom>
          <a:solidFill>
            <a:srgbClr val="F2F3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txBox="1"/>
          <p:nvPr/>
        </p:nvSpPr>
        <p:spPr>
          <a:xfrm>
            <a:off x="2514600" y="2971800"/>
            <a:ext cx="8366760" cy="27432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71B3B"/>
              </a:buClr>
              <a:buSzPts val="1550"/>
              <a:buFont typeface="Calibri"/>
              <a:buNone/>
            </a:pPr>
            <a:r>
              <a:rPr b="0" i="0" lang="en-US" sz="1550" u="none" cap="none" strike="noStrike">
                <a:solidFill>
                  <a:srgbClr val="171B3B"/>
                </a:solidFill>
                <a:latin typeface="Calibri"/>
                <a:ea typeface="Calibri"/>
                <a:cs typeface="Calibri"/>
                <a:sym typeface="Calibri"/>
              </a:rPr>
              <a:t>Πρώτη οθόνη: οδηγίες ασφάλειας (καθιστός παίκτης, ευαισθησία σε κίνηση, εφαρμογή headset) και κάθε νομική ειδοποίηση που πρέπει να εμφανιστεί πριν προχωρήσει η εμπειρία. Απαιτεί επιβεβαίωση — χρονομετρημένο κλείσιμο, αλλά και στο έγγραφο/tablet — ώστε να υπάρχει καταγραφή ότι ο χρήστης το είδε.</a:t>
            </a:r>
            <a:endParaRPr b="0" i="0" sz="1550" u="none" cap="none" strike="noStrike">
              <a:solidFill>
                <a:schemeClr val="dk1"/>
              </a:solidFill>
              <a:latin typeface="Calibri"/>
              <a:ea typeface="Calibri"/>
              <a:cs typeface="Calibri"/>
              <a:sym typeface="Calibri"/>
            </a:endParaRPr>
          </a:p>
        </p:txBody>
      </p:sp>
      <p:sp>
        <p:nvSpPr>
          <p:cNvPr id="101" name="Google Shape;101;p4"/>
          <p:cNvSpPr txBox="1"/>
          <p:nvPr/>
        </p:nvSpPr>
        <p:spPr>
          <a:xfrm>
            <a:off x="45720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KINO VR  ·  Ροή Εμπειρίας</a:t>
            </a:r>
            <a:endParaRPr b="0" i="0" sz="900" u="none" cap="none" strike="noStrike">
              <a:solidFill>
                <a:schemeClr val="dk1"/>
              </a:solidFill>
              <a:latin typeface="Calibri"/>
              <a:ea typeface="Calibri"/>
              <a:cs typeface="Calibri"/>
              <a:sym typeface="Calibri"/>
            </a:endParaRPr>
          </a:p>
        </p:txBody>
      </p:sp>
      <p:sp>
        <p:nvSpPr>
          <p:cNvPr id="102" name="Google Shape;102;p4"/>
          <p:cNvSpPr txBox="1"/>
          <p:nvPr/>
        </p:nvSpPr>
        <p:spPr>
          <a:xfrm>
            <a:off x="1127729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4</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5"/>
          <p:cNvSpPr/>
          <p:nvPr/>
        </p:nvSpPr>
        <p:spPr>
          <a:xfrm>
            <a:off x="640080" y="594360"/>
            <a:ext cx="1188720" cy="118872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txBox="1"/>
          <p:nvPr/>
        </p:nvSpPr>
        <p:spPr>
          <a:xfrm>
            <a:off x="640080" y="594360"/>
            <a:ext cx="118872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4000"/>
              <a:buFont typeface="Cambria"/>
              <a:buNone/>
            </a:pPr>
            <a:r>
              <a:rPr b="1" i="0" lang="en-US" sz="4000" u="none" cap="none" strike="noStrike">
                <a:solidFill>
                  <a:srgbClr val="10163B"/>
                </a:solidFill>
                <a:latin typeface="Cambria"/>
                <a:ea typeface="Cambria"/>
                <a:cs typeface="Cambria"/>
                <a:sym typeface="Cambria"/>
              </a:rPr>
              <a:t>3</a:t>
            </a:r>
            <a:endParaRPr b="0" i="0" sz="4000" u="none" cap="none" strike="noStrike">
              <a:solidFill>
                <a:schemeClr val="dk1"/>
              </a:solidFill>
              <a:latin typeface="Calibri"/>
              <a:ea typeface="Calibri"/>
              <a:cs typeface="Calibri"/>
              <a:sym typeface="Calibri"/>
            </a:endParaRPr>
          </a:p>
        </p:txBody>
      </p:sp>
      <p:sp>
        <p:nvSpPr>
          <p:cNvPr id="110" name="Google Shape;110;p5"/>
          <p:cNvSpPr txBox="1"/>
          <p:nvPr/>
        </p:nvSpPr>
        <p:spPr>
          <a:xfrm>
            <a:off x="2148840" y="6583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ΣΤΑΔΙΟ 3 / 8</a:t>
            </a:r>
            <a:endParaRPr b="0" i="0" sz="1200" u="none" cap="none" strike="noStrike">
              <a:solidFill>
                <a:schemeClr val="dk1"/>
              </a:solidFill>
              <a:latin typeface="Calibri"/>
              <a:ea typeface="Calibri"/>
              <a:cs typeface="Calibri"/>
              <a:sym typeface="Calibri"/>
            </a:endParaRPr>
          </a:p>
        </p:txBody>
      </p:sp>
      <p:sp>
        <p:nvSpPr>
          <p:cNvPr id="111" name="Google Shape;111;p5"/>
          <p:cNvSpPr txBox="1"/>
          <p:nvPr/>
        </p:nvSpPr>
        <p:spPr>
          <a:xfrm>
            <a:off x="2103120" y="960120"/>
            <a:ext cx="8686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63B"/>
              </a:buClr>
              <a:buSzPts val="3200"/>
              <a:buFont typeface="Cambria"/>
              <a:buNone/>
            </a:pPr>
            <a:r>
              <a:rPr b="1" i="0" lang="en-US" sz="3200" u="none" cap="none" strike="noStrike">
                <a:solidFill>
                  <a:srgbClr val="10163B"/>
                </a:solidFill>
                <a:latin typeface="Cambria"/>
                <a:ea typeface="Cambria"/>
                <a:cs typeface="Cambria"/>
                <a:sym typeface="Cambria"/>
              </a:rPr>
              <a:t>Λογότυπα</a:t>
            </a:r>
            <a:endParaRPr b="0" i="0" sz="3200" u="none" cap="none" strike="noStrike">
              <a:solidFill>
                <a:schemeClr val="dk1"/>
              </a:solidFill>
              <a:latin typeface="Calibri"/>
              <a:ea typeface="Calibri"/>
              <a:cs typeface="Calibri"/>
              <a:sym typeface="Calibri"/>
            </a:endParaRPr>
          </a:p>
        </p:txBody>
      </p:sp>
      <p:cxnSp>
        <p:nvCxnSpPr>
          <p:cNvPr id="112" name="Google Shape;112;p5"/>
          <p:cNvCxnSpPr/>
          <p:nvPr/>
        </p:nvCxnSpPr>
        <p:spPr>
          <a:xfrm>
            <a:off x="2304288" y="2212848"/>
            <a:ext cx="8421624" cy="0"/>
          </a:xfrm>
          <a:prstGeom prst="straightConnector1">
            <a:avLst/>
          </a:prstGeom>
          <a:noFill/>
          <a:ln cap="flat" cmpd="sng" w="25400">
            <a:solidFill>
              <a:srgbClr val="E3E3EE"/>
            </a:solidFill>
            <a:prstDash val="solid"/>
            <a:round/>
            <a:headEnd len="sm" w="sm" type="none"/>
            <a:tailEnd len="sm" w="sm" type="none"/>
          </a:ln>
        </p:spPr>
      </p:cxnSp>
      <p:sp>
        <p:nvSpPr>
          <p:cNvPr id="113" name="Google Shape;113;p5"/>
          <p:cNvSpPr/>
          <p:nvPr/>
        </p:nvSpPr>
        <p:spPr>
          <a:xfrm>
            <a:off x="2148840"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3351929"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4555018" y="2057400"/>
            <a:ext cx="310896" cy="310896"/>
          </a:xfrm>
          <a:prstGeom prst="ellipse">
            <a:avLst/>
          </a:prstGeom>
          <a:solidFill>
            <a:srgbClr val="C9A227"/>
          </a:solidFill>
          <a:ln cap="flat" cmpd="sng" w="1270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5758107"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6961197"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8164286"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9367375"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10570464"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2103120" y="2697480"/>
            <a:ext cx="9144000" cy="3246120"/>
          </a:xfrm>
          <a:prstGeom prst="roundRect">
            <a:avLst>
              <a:gd fmla="val 3380" name="adj"/>
            </a:avLst>
          </a:prstGeom>
          <a:solidFill>
            <a:srgbClr val="F2F3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txBox="1"/>
          <p:nvPr/>
        </p:nvSpPr>
        <p:spPr>
          <a:xfrm>
            <a:off x="2514600" y="2971800"/>
            <a:ext cx="8366760" cy="27432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71B3B"/>
              </a:buClr>
              <a:buSzPts val="1550"/>
              <a:buFont typeface="Calibri"/>
              <a:buNone/>
            </a:pPr>
            <a:r>
              <a:rPr b="0" i="0" lang="en-US" sz="1550" u="none" cap="none" strike="noStrike">
                <a:solidFill>
                  <a:srgbClr val="171B3B"/>
                </a:solidFill>
                <a:latin typeface="Calibri"/>
                <a:ea typeface="Calibri"/>
                <a:cs typeface="Calibri"/>
                <a:sym typeface="Calibri"/>
              </a:rPr>
              <a:t>Αφού κλείσει η δήλωση αποποίησης ευθύνης, εμφανίζονται τα λογότυπα.</a:t>
            </a:r>
            <a:endParaRPr b="0" i="0" sz="1550" u="none" cap="none" strike="noStrike">
              <a:solidFill>
                <a:schemeClr val="dk1"/>
              </a:solidFill>
              <a:latin typeface="Calibri"/>
              <a:ea typeface="Calibri"/>
              <a:cs typeface="Calibri"/>
              <a:sym typeface="Calibri"/>
            </a:endParaRPr>
          </a:p>
        </p:txBody>
      </p:sp>
      <p:sp>
        <p:nvSpPr>
          <p:cNvPr id="123" name="Google Shape;123;p5"/>
          <p:cNvSpPr/>
          <p:nvPr/>
        </p:nvSpPr>
        <p:spPr>
          <a:xfrm>
            <a:off x="594360" y="2834640"/>
            <a:ext cx="1371600" cy="731520"/>
          </a:xfrm>
          <a:prstGeom prst="roundRect">
            <a:avLst>
              <a:gd fmla="val 12500" name="adj"/>
            </a:avLst>
          </a:prstGeom>
          <a:solidFill>
            <a:srgbClr val="F2F3F9"/>
          </a:solidFill>
          <a:ln cap="flat" cmpd="sng" w="1270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txBox="1"/>
          <p:nvPr/>
        </p:nvSpPr>
        <p:spPr>
          <a:xfrm>
            <a:off x="594360" y="2834640"/>
            <a:ext cx="13716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1500"/>
              <a:buFont typeface="Cambria"/>
              <a:buNone/>
            </a:pPr>
            <a:r>
              <a:rPr b="1" i="0" lang="en-US" sz="1500" u="none" cap="none" strike="noStrike">
                <a:solidFill>
                  <a:srgbClr val="10163B"/>
                </a:solidFill>
                <a:latin typeface="Cambria"/>
                <a:ea typeface="Cambria"/>
                <a:cs typeface="Cambria"/>
                <a:sym typeface="Cambria"/>
              </a:rPr>
              <a:t>Allwyn</a:t>
            </a:r>
            <a:endParaRPr b="0" i="0" sz="1500" u="none" cap="none" strike="noStrike">
              <a:solidFill>
                <a:schemeClr val="dk1"/>
              </a:solidFill>
              <a:latin typeface="Calibri"/>
              <a:ea typeface="Calibri"/>
              <a:cs typeface="Calibri"/>
              <a:sym typeface="Calibri"/>
            </a:endParaRPr>
          </a:p>
        </p:txBody>
      </p:sp>
      <p:sp>
        <p:nvSpPr>
          <p:cNvPr id="125" name="Google Shape;125;p5"/>
          <p:cNvSpPr/>
          <p:nvPr/>
        </p:nvSpPr>
        <p:spPr>
          <a:xfrm>
            <a:off x="594360" y="3794760"/>
            <a:ext cx="1371600" cy="731520"/>
          </a:xfrm>
          <a:prstGeom prst="roundRect">
            <a:avLst>
              <a:gd fmla="val 12500" name="adj"/>
            </a:avLst>
          </a:prstGeom>
          <a:solidFill>
            <a:srgbClr val="F2F3F9"/>
          </a:solidFill>
          <a:ln cap="flat" cmpd="sng" w="1270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txBox="1"/>
          <p:nvPr/>
        </p:nvSpPr>
        <p:spPr>
          <a:xfrm>
            <a:off x="594360" y="3794760"/>
            <a:ext cx="137160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1500"/>
              <a:buFont typeface="Cambria"/>
              <a:buNone/>
            </a:pPr>
            <a:r>
              <a:rPr b="1" i="0" lang="en-US" sz="1500" u="none" cap="none" strike="noStrike">
                <a:solidFill>
                  <a:srgbClr val="10163B"/>
                </a:solidFill>
                <a:latin typeface="Cambria"/>
                <a:ea typeface="Cambria"/>
                <a:cs typeface="Cambria"/>
                <a:sym typeface="Cambria"/>
              </a:rPr>
              <a:t>KINO</a:t>
            </a:r>
            <a:endParaRPr b="0" i="0" sz="1500" u="none" cap="none" strike="noStrike">
              <a:solidFill>
                <a:schemeClr val="dk1"/>
              </a:solidFill>
              <a:latin typeface="Calibri"/>
              <a:ea typeface="Calibri"/>
              <a:cs typeface="Calibri"/>
              <a:sym typeface="Calibri"/>
            </a:endParaRPr>
          </a:p>
        </p:txBody>
      </p:sp>
      <p:sp>
        <p:nvSpPr>
          <p:cNvPr id="127" name="Google Shape;127;p5"/>
          <p:cNvSpPr txBox="1"/>
          <p:nvPr/>
        </p:nvSpPr>
        <p:spPr>
          <a:xfrm>
            <a:off x="45720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KINO VR  ·  Ροή Εμπειρίας</a:t>
            </a:r>
            <a:endParaRPr b="0" i="0" sz="900" u="none" cap="none" strike="noStrike">
              <a:solidFill>
                <a:schemeClr val="dk1"/>
              </a:solidFill>
              <a:latin typeface="Calibri"/>
              <a:ea typeface="Calibri"/>
              <a:cs typeface="Calibri"/>
              <a:sym typeface="Calibri"/>
            </a:endParaRPr>
          </a:p>
        </p:txBody>
      </p:sp>
      <p:sp>
        <p:nvSpPr>
          <p:cNvPr id="128" name="Google Shape;128;p5"/>
          <p:cNvSpPr txBox="1"/>
          <p:nvPr/>
        </p:nvSpPr>
        <p:spPr>
          <a:xfrm>
            <a:off x="1127729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5</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3" name="Shape 133"/>
        <p:cNvGrpSpPr/>
        <p:nvPr/>
      </p:nvGrpSpPr>
      <p:grpSpPr>
        <a:xfrm>
          <a:off x="0" y="0"/>
          <a:ext cx="0" cy="0"/>
          <a:chOff x="0" y="0"/>
          <a:chExt cx="0" cy="0"/>
        </a:xfrm>
      </p:grpSpPr>
      <p:sp>
        <p:nvSpPr>
          <p:cNvPr id="134" name="Google Shape;134;p6"/>
          <p:cNvSpPr/>
          <p:nvPr/>
        </p:nvSpPr>
        <p:spPr>
          <a:xfrm>
            <a:off x="640080" y="594360"/>
            <a:ext cx="1188720" cy="118872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6"/>
          <p:cNvSpPr txBox="1"/>
          <p:nvPr/>
        </p:nvSpPr>
        <p:spPr>
          <a:xfrm>
            <a:off x="640080" y="594360"/>
            <a:ext cx="118872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4000"/>
              <a:buFont typeface="Cambria"/>
              <a:buNone/>
            </a:pPr>
            <a:r>
              <a:rPr b="1" i="0" lang="en-US" sz="4000" u="none" cap="none" strike="noStrike">
                <a:solidFill>
                  <a:srgbClr val="10163B"/>
                </a:solidFill>
                <a:latin typeface="Cambria"/>
                <a:ea typeface="Cambria"/>
                <a:cs typeface="Cambria"/>
                <a:sym typeface="Cambria"/>
              </a:rPr>
              <a:t>4</a:t>
            </a:r>
            <a:endParaRPr b="0" i="0" sz="4000" u="none" cap="none" strike="noStrike">
              <a:solidFill>
                <a:schemeClr val="dk1"/>
              </a:solidFill>
              <a:latin typeface="Calibri"/>
              <a:ea typeface="Calibri"/>
              <a:cs typeface="Calibri"/>
              <a:sym typeface="Calibri"/>
            </a:endParaRPr>
          </a:p>
        </p:txBody>
      </p:sp>
      <p:sp>
        <p:nvSpPr>
          <p:cNvPr id="136" name="Google Shape;136;p6"/>
          <p:cNvSpPr txBox="1"/>
          <p:nvPr/>
        </p:nvSpPr>
        <p:spPr>
          <a:xfrm>
            <a:off x="2148840" y="6583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ΣΤΑΔΙΟ 4 / 8</a:t>
            </a:r>
            <a:endParaRPr b="0" i="0" sz="1200" u="none" cap="none" strike="noStrike">
              <a:solidFill>
                <a:schemeClr val="dk1"/>
              </a:solidFill>
              <a:latin typeface="Calibri"/>
              <a:ea typeface="Calibri"/>
              <a:cs typeface="Calibri"/>
              <a:sym typeface="Calibri"/>
            </a:endParaRPr>
          </a:p>
        </p:txBody>
      </p:sp>
      <p:sp>
        <p:nvSpPr>
          <p:cNvPr id="137" name="Google Shape;137;p6"/>
          <p:cNvSpPr txBox="1"/>
          <p:nvPr/>
        </p:nvSpPr>
        <p:spPr>
          <a:xfrm>
            <a:off x="2103120" y="960120"/>
            <a:ext cx="8686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63B"/>
              </a:buClr>
              <a:buSzPts val="3200"/>
              <a:buFont typeface="Cambria"/>
              <a:buNone/>
            </a:pPr>
            <a:r>
              <a:rPr b="1" i="0" lang="en-US" sz="3200" u="none" cap="none" strike="noStrike">
                <a:solidFill>
                  <a:srgbClr val="10163B"/>
                </a:solidFill>
                <a:latin typeface="Cambria"/>
                <a:ea typeface="Cambria"/>
                <a:cs typeface="Cambria"/>
                <a:sym typeface="Cambria"/>
              </a:rPr>
              <a:t>Εισαγωγικό Animation</a:t>
            </a:r>
            <a:endParaRPr b="0" i="0" sz="3200" u="none" cap="none" strike="noStrike">
              <a:solidFill>
                <a:schemeClr val="dk1"/>
              </a:solidFill>
              <a:latin typeface="Calibri"/>
              <a:ea typeface="Calibri"/>
              <a:cs typeface="Calibri"/>
              <a:sym typeface="Calibri"/>
            </a:endParaRPr>
          </a:p>
        </p:txBody>
      </p:sp>
      <p:cxnSp>
        <p:nvCxnSpPr>
          <p:cNvPr id="138" name="Google Shape;138;p6"/>
          <p:cNvCxnSpPr/>
          <p:nvPr/>
        </p:nvCxnSpPr>
        <p:spPr>
          <a:xfrm>
            <a:off x="2304288" y="2212848"/>
            <a:ext cx="8421624" cy="0"/>
          </a:xfrm>
          <a:prstGeom prst="straightConnector1">
            <a:avLst/>
          </a:prstGeom>
          <a:noFill/>
          <a:ln cap="flat" cmpd="sng" w="25400">
            <a:solidFill>
              <a:srgbClr val="E3E3EE"/>
            </a:solidFill>
            <a:prstDash val="solid"/>
            <a:round/>
            <a:headEnd len="sm" w="sm" type="none"/>
            <a:tailEnd len="sm" w="sm" type="none"/>
          </a:ln>
        </p:spPr>
      </p:cxnSp>
      <p:sp>
        <p:nvSpPr>
          <p:cNvPr id="139" name="Google Shape;139;p6"/>
          <p:cNvSpPr/>
          <p:nvPr/>
        </p:nvSpPr>
        <p:spPr>
          <a:xfrm>
            <a:off x="2148840"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
          <p:cNvSpPr/>
          <p:nvPr/>
        </p:nvSpPr>
        <p:spPr>
          <a:xfrm>
            <a:off x="3351929"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6"/>
          <p:cNvSpPr/>
          <p:nvPr/>
        </p:nvSpPr>
        <p:spPr>
          <a:xfrm>
            <a:off x="4555018"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5758107" y="2057400"/>
            <a:ext cx="310896" cy="310896"/>
          </a:xfrm>
          <a:prstGeom prst="ellipse">
            <a:avLst/>
          </a:prstGeom>
          <a:solidFill>
            <a:srgbClr val="C9A227"/>
          </a:solidFill>
          <a:ln cap="flat" cmpd="sng" w="1270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6961197"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8164286"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9367375"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10570464"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2103120" y="2697480"/>
            <a:ext cx="9144000" cy="3246120"/>
          </a:xfrm>
          <a:prstGeom prst="roundRect">
            <a:avLst>
              <a:gd fmla="val 3380" name="adj"/>
            </a:avLst>
          </a:prstGeom>
          <a:solidFill>
            <a:srgbClr val="F2F3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txBox="1"/>
          <p:nvPr/>
        </p:nvSpPr>
        <p:spPr>
          <a:xfrm>
            <a:off x="2514600" y="2971800"/>
            <a:ext cx="8366760" cy="27432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71B3B"/>
              </a:buClr>
              <a:buSzPts val="1550"/>
              <a:buFont typeface="Calibri"/>
              <a:buNone/>
            </a:pPr>
            <a:r>
              <a:rPr b="0" i="0" lang="en-US" sz="1550" u="none" cap="none" strike="noStrike">
                <a:solidFill>
                  <a:srgbClr val="171B3B"/>
                </a:solidFill>
                <a:latin typeface="Calibri"/>
                <a:ea typeface="Calibri"/>
                <a:cs typeface="Calibri"/>
                <a:sym typeface="Calibri"/>
              </a:rPr>
              <a:t>Θέτει τον κόσμο στον οποίο πρόκειται να μπει ο χρήστης. Καθορίζει τον τόνο, οπτικά και ηχητικά, πριν απαιτηθεί οποιαδήποτε αλληλεπίδραση.</a:t>
            </a:r>
            <a:endParaRPr b="0" i="0" sz="1550" u="none" cap="none" strike="noStrike">
              <a:solidFill>
                <a:schemeClr val="dk1"/>
              </a:solidFill>
              <a:latin typeface="Calibri"/>
              <a:ea typeface="Calibri"/>
              <a:cs typeface="Calibri"/>
              <a:sym typeface="Calibri"/>
            </a:endParaRPr>
          </a:p>
        </p:txBody>
      </p:sp>
      <p:sp>
        <p:nvSpPr>
          <p:cNvPr id="149" name="Google Shape;149;p6"/>
          <p:cNvSpPr txBox="1"/>
          <p:nvPr/>
        </p:nvSpPr>
        <p:spPr>
          <a:xfrm>
            <a:off x="45720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KINO VR  ·  Ροή Εμπειρίας</a:t>
            </a:r>
            <a:endParaRPr b="0" i="0" sz="900" u="none" cap="none" strike="noStrike">
              <a:solidFill>
                <a:schemeClr val="dk1"/>
              </a:solidFill>
              <a:latin typeface="Calibri"/>
              <a:ea typeface="Calibri"/>
              <a:cs typeface="Calibri"/>
              <a:sym typeface="Calibri"/>
            </a:endParaRPr>
          </a:p>
        </p:txBody>
      </p:sp>
      <p:sp>
        <p:nvSpPr>
          <p:cNvPr id="150" name="Google Shape;150;p6"/>
          <p:cNvSpPr txBox="1"/>
          <p:nvPr/>
        </p:nvSpPr>
        <p:spPr>
          <a:xfrm>
            <a:off x="1127729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6</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63B"/>
        </a:solidFill>
      </p:bgPr>
    </p:bg>
    <p:spTree>
      <p:nvGrpSpPr>
        <p:cNvPr id="155" name="Shape 155"/>
        <p:cNvGrpSpPr/>
        <p:nvPr/>
      </p:nvGrpSpPr>
      <p:grpSpPr>
        <a:xfrm>
          <a:off x="0" y="0"/>
          <a:ext cx="0" cy="0"/>
          <a:chOff x="0" y="0"/>
          <a:chExt cx="0" cy="0"/>
        </a:xfrm>
      </p:grpSpPr>
      <p:sp>
        <p:nvSpPr>
          <p:cNvPr id="156" name="Google Shape;156;p7"/>
          <p:cNvSpPr/>
          <p:nvPr/>
        </p:nvSpPr>
        <p:spPr>
          <a:xfrm>
            <a:off x="640080" y="594360"/>
            <a:ext cx="1188720" cy="118872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txBox="1"/>
          <p:nvPr/>
        </p:nvSpPr>
        <p:spPr>
          <a:xfrm>
            <a:off x="640080" y="594360"/>
            <a:ext cx="118872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4000"/>
              <a:buFont typeface="Cambria"/>
              <a:buNone/>
            </a:pPr>
            <a:r>
              <a:rPr b="1" i="0" lang="en-US" sz="4000" u="none" cap="none" strike="noStrike">
                <a:solidFill>
                  <a:srgbClr val="10163B"/>
                </a:solidFill>
                <a:latin typeface="Cambria"/>
                <a:ea typeface="Cambria"/>
                <a:cs typeface="Cambria"/>
                <a:sym typeface="Cambria"/>
              </a:rPr>
              <a:t>5</a:t>
            </a:r>
            <a:endParaRPr b="0" i="0" sz="4000" u="none" cap="none" strike="noStrike">
              <a:solidFill>
                <a:schemeClr val="dk1"/>
              </a:solidFill>
              <a:latin typeface="Calibri"/>
              <a:ea typeface="Calibri"/>
              <a:cs typeface="Calibri"/>
              <a:sym typeface="Calibri"/>
            </a:endParaRPr>
          </a:p>
        </p:txBody>
      </p:sp>
      <p:sp>
        <p:nvSpPr>
          <p:cNvPr id="158" name="Google Shape;158;p7"/>
          <p:cNvSpPr txBox="1"/>
          <p:nvPr/>
        </p:nvSpPr>
        <p:spPr>
          <a:xfrm>
            <a:off x="2148840" y="6583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ΣΤΑΔΙΟ 5 / 8</a:t>
            </a:r>
            <a:endParaRPr b="0" i="0" sz="1200" u="none" cap="none" strike="noStrike">
              <a:solidFill>
                <a:schemeClr val="dk1"/>
              </a:solidFill>
              <a:latin typeface="Calibri"/>
              <a:ea typeface="Calibri"/>
              <a:cs typeface="Calibri"/>
              <a:sym typeface="Calibri"/>
            </a:endParaRPr>
          </a:p>
        </p:txBody>
      </p:sp>
      <p:sp>
        <p:nvSpPr>
          <p:cNvPr id="159" name="Google Shape;159;p7"/>
          <p:cNvSpPr txBox="1"/>
          <p:nvPr/>
        </p:nvSpPr>
        <p:spPr>
          <a:xfrm>
            <a:off x="2103120" y="960120"/>
            <a:ext cx="8686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Κανονικό Παιχνίδι</a:t>
            </a:r>
            <a:endParaRPr b="0" i="0" sz="3200" u="none" cap="none" strike="noStrike">
              <a:solidFill>
                <a:schemeClr val="dk1"/>
              </a:solidFill>
              <a:latin typeface="Calibri"/>
              <a:ea typeface="Calibri"/>
              <a:cs typeface="Calibri"/>
              <a:sym typeface="Calibri"/>
            </a:endParaRPr>
          </a:p>
        </p:txBody>
      </p:sp>
      <p:cxnSp>
        <p:nvCxnSpPr>
          <p:cNvPr id="160" name="Google Shape;160;p7"/>
          <p:cNvCxnSpPr/>
          <p:nvPr/>
        </p:nvCxnSpPr>
        <p:spPr>
          <a:xfrm>
            <a:off x="2304288" y="2212848"/>
            <a:ext cx="8421624" cy="0"/>
          </a:xfrm>
          <a:prstGeom prst="straightConnector1">
            <a:avLst/>
          </a:prstGeom>
          <a:noFill/>
          <a:ln cap="flat" cmpd="sng" w="25400">
            <a:solidFill>
              <a:srgbClr val="1B2456"/>
            </a:solidFill>
            <a:prstDash val="solid"/>
            <a:round/>
            <a:headEnd len="sm" w="sm" type="none"/>
            <a:tailEnd len="sm" w="sm" type="none"/>
          </a:ln>
        </p:spPr>
      </p:cxnSp>
      <p:sp>
        <p:nvSpPr>
          <p:cNvPr id="161" name="Google Shape;161;p7"/>
          <p:cNvSpPr/>
          <p:nvPr/>
        </p:nvSpPr>
        <p:spPr>
          <a:xfrm>
            <a:off x="2148840"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7"/>
          <p:cNvSpPr/>
          <p:nvPr/>
        </p:nvSpPr>
        <p:spPr>
          <a:xfrm>
            <a:off x="3351929"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7"/>
          <p:cNvSpPr/>
          <p:nvPr/>
        </p:nvSpPr>
        <p:spPr>
          <a:xfrm>
            <a:off x="4555018"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
          <p:cNvSpPr/>
          <p:nvPr/>
        </p:nvSpPr>
        <p:spPr>
          <a:xfrm>
            <a:off x="5758107"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7"/>
          <p:cNvSpPr/>
          <p:nvPr/>
        </p:nvSpPr>
        <p:spPr>
          <a:xfrm>
            <a:off x="6961197" y="2057400"/>
            <a:ext cx="310896" cy="310896"/>
          </a:xfrm>
          <a:prstGeom prst="ellipse">
            <a:avLst/>
          </a:prstGeom>
          <a:solidFill>
            <a:srgbClr val="C9A227"/>
          </a:solidFill>
          <a:ln cap="flat" cmpd="sng" w="1270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7"/>
          <p:cNvSpPr/>
          <p:nvPr/>
        </p:nvSpPr>
        <p:spPr>
          <a:xfrm>
            <a:off x="8164286"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7"/>
          <p:cNvSpPr/>
          <p:nvPr/>
        </p:nvSpPr>
        <p:spPr>
          <a:xfrm>
            <a:off x="9367375"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7"/>
          <p:cNvSpPr/>
          <p:nvPr/>
        </p:nvSpPr>
        <p:spPr>
          <a:xfrm>
            <a:off x="10570464"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7"/>
          <p:cNvSpPr/>
          <p:nvPr/>
        </p:nvSpPr>
        <p:spPr>
          <a:xfrm>
            <a:off x="2103120" y="2697480"/>
            <a:ext cx="9144000" cy="3246120"/>
          </a:xfrm>
          <a:prstGeom prst="roundRect">
            <a:avLst>
              <a:gd fmla="val 3380" name="adj"/>
            </a:avLst>
          </a:prstGeom>
          <a:solidFill>
            <a:srgbClr val="1B24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7"/>
          <p:cNvSpPr txBox="1"/>
          <p:nvPr/>
        </p:nvSpPr>
        <p:spPr>
          <a:xfrm>
            <a:off x="2514600" y="2971800"/>
            <a:ext cx="8366760" cy="27432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CFE0FF"/>
              </a:buClr>
              <a:buSzPts val="1550"/>
              <a:buFont typeface="Calibri"/>
              <a:buNone/>
            </a:pPr>
            <a:r>
              <a:rPr b="0" i="0" lang="en-US" sz="1550" u="none" cap="none" strike="noStrike">
                <a:solidFill>
                  <a:srgbClr val="CFE0FF"/>
                </a:solidFill>
                <a:latin typeface="Calibri"/>
                <a:ea typeface="Calibri"/>
                <a:cs typeface="Calibri"/>
                <a:sym typeface="Calibri"/>
              </a:rPr>
              <a:t>Hand tracking, χωρίς χειριστήριο, 60–90 δευτερόλεπτα. Γύρος με χρονικό όριο: πιάσε όσο περισσότερες μπάλες μπορείς πριν λήξει ο χρόνος, συγκεντρώνοντας score στην πορεία. Μέσα στον γύρο εμφανίζονται: More Wins / μπάλες αυξημένης αξίας, Mystery/Surprise balls (multipliers), και KINO Boost (ανενεργό στο launch). Πλήρης λεπτομέρεια στο Game Mechanics Document.</a:t>
            </a:r>
            <a:endParaRPr b="0" i="0" sz="1550" u="none" cap="none" strike="noStrike">
              <a:solidFill>
                <a:schemeClr val="dk1"/>
              </a:solidFill>
              <a:latin typeface="Calibri"/>
              <a:ea typeface="Calibri"/>
              <a:cs typeface="Calibri"/>
              <a:sym typeface="Calibri"/>
            </a:endParaRPr>
          </a:p>
        </p:txBody>
      </p:sp>
      <p:sp>
        <p:nvSpPr>
          <p:cNvPr id="171" name="Google Shape;171;p7"/>
          <p:cNvSpPr txBox="1"/>
          <p:nvPr/>
        </p:nvSpPr>
        <p:spPr>
          <a:xfrm>
            <a:off x="502920" y="2743200"/>
            <a:ext cx="1371600" cy="13716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C9A227"/>
              </a:buClr>
              <a:buSzPts val="2200"/>
              <a:buFont typeface="Cambria"/>
              <a:buNone/>
            </a:pPr>
            <a:r>
              <a:rPr b="1" i="0" lang="en-US" sz="2200" u="none" cap="none" strike="noStrike">
                <a:solidFill>
                  <a:srgbClr val="C9A227"/>
                </a:solidFill>
                <a:latin typeface="Cambria"/>
                <a:ea typeface="Cambria"/>
                <a:cs typeface="Cambria"/>
                <a:sym typeface="Cambria"/>
              </a:rPr>
              <a:t>60–90</a:t>
            </a:r>
            <a:endParaRPr b="0" i="0" sz="22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C9A227"/>
              </a:buClr>
              <a:buSzPts val="2200"/>
              <a:buFont typeface="Cambria"/>
              <a:buNone/>
            </a:pPr>
            <a:r>
              <a:rPr b="1" i="0" lang="en-US" sz="2200" u="none" cap="none" strike="noStrike">
                <a:solidFill>
                  <a:srgbClr val="C9A227"/>
                </a:solidFill>
                <a:latin typeface="Cambria"/>
                <a:ea typeface="Cambria"/>
                <a:cs typeface="Cambria"/>
                <a:sym typeface="Cambria"/>
              </a:rPr>
              <a:t>δευτ.</a:t>
            </a:r>
            <a:endParaRPr b="0" i="0" sz="2200" u="none" cap="none" strike="noStrike">
              <a:solidFill>
                <a:schemeClr val="dk1"/>
              </a:solidFill>
              <a:latin typeface="Calibri"/>
              <a:ea typeface="Calibri"/>
              <a:cs typeface="Calibri"/>
              <a:sym typeface="Calibri"/>
            </a:endParaRPr>
          </a:p>
        </p:txBody>
      </p:sp>
      <p:sp>
        <p:nvSpPr>
          <p:cNvPr id="172" name="Google Shape;172;p7"/>
          <p:cNvSpPr txBox="1"/>
          <p:nvPr/>
        </p:nvSpPr>
        <p:spPr>
          <a:xfrm>
            <a:off x="45720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0FF"/>
              </a:buClr>
              <a:buSzPts val="900"/>
              <a:buFont typeface="Calibri"/>
              <a:buNone/>
            </a:pPr>
            <a:r>
              <a:rPr b="0" i="0" lang="en-US" sz="900" u="none" cap="none" strike="noStrike">
                <a:solidFill>
                  <a:srgbClr val="CFE0FF"/>
                </a:solidFill>
                <a:latin typeface="Calibri"/>
                <a:ea typeface="Calibri"/>
                <a:cs typeface="Calibri"/>
                <a:sym typeface="Calibri"/>
              </a:rPr>
              <a:t>KINO VR  ·  Ροή Εμπειρίας</a:t>
            </a:r>
            <a:endParaRPr b="0" i="0" sz="900" u="none" cap="none" strike="noStrike">
              <a:solidFill>
                <a:schemeClr val="dk1"/>
              </a:solidFill>
              <a:latin typeface="Calibri"/>
              <a:ea typeface="Calibri"/>
              <a:cs typeface="Calibri"/>
              <a:sym typeface="Calibri"/>
            </a:endParaRPr>
          </a:p>
        </p:txBody>
      </p:sp>
      <p:sp>
        <p:nvSpPr>
          <p:cNvPr id="173" name="Google Shape;173;p7"/>
          <p:cNvSpPr txBox="1"/>
          <p:nvPr/>
        </p:nvSpPr>
        <p:spPr>
          <a:xfrm>
            <a:off x="1127729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FE0FF"/>
              </a:buClr>
              <a:buSzPts val="900"/>
              <a:buFont typeface="Calibri"/>
              <a:buNone/>
            </a:pPr>
            <a:r>
              <a:rPr b="0" i="0" lang="en-US" sz="900" u="none" cap="none" strike="noStrike">
                <a:solidFill>
                  <a:srgbClr val="CFE0FF"/>
                </a:solidFill>
                <a:latin typeface="Calibri"/>
                <a:ea typeface="Calibri"/>
                <a:cs typeface="Calibri"/>
                <a:sym typeface="Calibri"/>
              </a:rPr>
              <a:t>7</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0163B"/>
        </a:solidFill>
      </p:bgPr>
    </p:bg>
    <p:spTree>
      <p:nvGrpSpPr>
        <p:cNvPr id="178" name="Shape 178"/>
        <p:cNvGrpSpPr/>
        <p:nvPr/>
      </p:nvGrpSpPr>
      <p:grpSpPr>
        <a:xfrm>
          <a:off x="0" y="0"/>
          <a:ext cx="0" cy="0"/>
          <a:chOff x="0" y="0"/>
          <a:chExt cx="0" cy="0"/>
        </a:xfrm>
      </p:grpSpPr>
      <p:sp>
        <p:nvSpPr>
          <p:cNvPr id="179" name="Google Shape;179;p8"/>
          <p:cNvSpPr/>
          <p:nvPr/>
        </p:nvSpPr>
        <p:spPr>
          <a:xfrm>
            <a:off x="640080" y="594360"/>
            <a:ext cx="1188720" cy="118872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txBox="1"/>
          <p:nvPr/>
        </p:nvSpPr>
        <p:spPr>
          <a:xfrm>
            <a:off x="640080" y="594360"/>
            <a:ext cx="118872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4000"/>
              <a:buFont typeface="Cambria"/>
              <a:buNone/>
            </a:pPr>
            <a:r>
              <a:rPr b="1" i="0" lang="en-US" sz="4000" u="none" cap="none" strike="noStrike">
                <a:solidFill>
                  <a:srgbClr val="10163B"/>
                </a:solidFill>
                <a:latin typeface="Cambria"/>
                <a:ea typeface="Cambria"/>
                <a:cs typeface="Cambria"/>
                <a:sym typeface="Cambria"/>
              </a:rPr>
              <a:t>6</a:t>
            </a:r>
            <a:endParaRPr b="0" i="0" sz="4000" u="none" cap="none" strike="noStrike">
              <a:solidFill>
                <a:schemeClr val="dk1"/>
              </a:solidFill>
              <a:latin typeface="Calibri"/>
              <a:ea typeface="Calibri"/>
              <a:cs typeface="Calibri"/>
              <a:sym typeface="Calibri"/>
            </a:endParaRPr>
          </a:p>
        </p:txBody>
      </p:sp>
      <p:sp>
        <p:nvSpPr>
          <p:cNvPr id="181" name="Google Shape;181;p8"/>
          <p:cNvSpPr txBox="1"/>
          <p:nvPr/>
        </p:nvSpPr>
        <p:spPr>
          <a:xfrm>
            <a:off x="2148840" y="6583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ΣΤΑΔΙΟ 6 / 8</a:t>
            </a:r>
            <a:endParaRPr b="0" i="0" sz="1200" u="none" cap="none" strike="noStrike">
              <a:solidFill>
                <a:schemeClr val="dk1"/>
              </a:solidFill>
              <a:latin typeface="Calibri"/>
              <a:ea typeface="Calibri"/>
              <a:cs typeface="Calibri"/>
              <a:sym typeface="Calibri"/>
            </a:endParaRPr>
          </a:p>
        </p:txBody>
      </p:sp>
      <p:sp>
        <p:nvSpPr>
          <p:cNvPr id="182" name="Google Shape;182;p8"/>
          <p:cNvSpPr txBox="1"/>
          <p:nvPr/>
        </p:nvSpPr>
        <p:spPr>
          <a:xfrm>
            <a:off x="2103120" y="960120"/>
            <a:ext cx="8686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Second Chance</a:t>
            </a:r>
            <a:endParaRPr b="0" i="0" sz="3200" u="none" cap="none" strike="noStrike">
              <a:solidFill>
                <a:schemeClr val="dk1"/>
              </a:solidFill>
              <a:latin typeface="Calibri"/>
              <a:ea typeface="Calibri"/>
              <a:cs typeface="Calibri"/>
              <a:sym typeface="Calibri"/>
            </a:endParaRPr>
          </a:p>
        </p:txBody>
      </p:sp>
      <p:cxnSp>
        <p:nvCxnSpPr>
          <p:cNvPr id="183" name="Google Shape;183;p8"/>
          <p:cNvCxnSpPr/>
          <p:nvPr/>
        </p:nvCxnSpPr>
        <p:spPr>
          <a:xfrm>
            <a:off x="2304288" y="2212848"/>
            <a:ext cx="8421624" cy="0"/>
          </a:xfrm>
          <a:prstGeom prst="straightConnector1">
            <a:avLst/>
          </a:prstGeom>
          <a:noFill/>
          <a:ln cap="flat" cmpd="sng" w="25400">
            <a:solidFill>
              <a:srgbClr val="1B2456"/>
            </a:solidFill>
            <a:prstDash val="solid"/>
            <a:round/>
            <a:headEnd len="sm" w="sm" type="none"/>
            <a:tailEnd len="sm" w="sm" type="none"/>
          </a:ln>
        </p:spPr>
      </p:cxnSp>
      <p:sp>
        <p:nvSpPr>
          <p:cNvPr id="184" name="Google Shape;184;p8"/>
          <p:cNvSpPr/>
          <p:nvPr/>
        </p:nvSpPr>
        <p:spPr>
          <a:xfrm>
            <a:off x="2148840"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8"/>
          <p:cNvSpPr/>
          <p:nvPr/>
        </p:nvSpPr>
        <p:spPr>
          <a:xfrm>
            <a:off x="3351929"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8"/>
          <p:cNvSpPr/>
          <p:nvPr/>
        </p:nvSpPr>
        <p:spPr>
          <a:xfrm>
            <a:off x="4555018"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8"/>
          <p:cNvSpPr/>
          <p:nvPr/>
        </p:nvSpPr>
        <p:spPr>
          <a:xfrm>
            <a:off x="5758107"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8"/>
          <p:cNvSpPr/>
          <p:nvPr/>
        </p:nvSpPr>
        <p:spPr>
          <a:xfrm>
            <a:off x="6961197"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8"/>
          <p:cNvSpPr/>
          <p:nvPr/>
        </p:nvSpPr>
        <p:spPr>
          <a:xfrm>
            <a:off x="8164286" y="2057400"/>
            <a:ext cx="310896" cy="310896"/>
          </a:xfrm>
          <a:prstGeom prst="ellipse">
            <a:avLst/>
          </a:prstGeom>
          <a:solidFill>
            <a:srgbClr val="C9A227"/>
          </a:solidFill>
          <a:ln cap="flat" cmpd="sng" w="1270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8"/>
          <p:cNvSpPr/>
          <p:nvPr/>
        </p:nvSpPr>
        <p:spPr>
          <a:xfrm>
            <a:off x="9367375"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8"/>
          <p:cNvSpPr/>
          <p:nvPr/>
        </p:nvSpPr>
        <p:spPr>
          <a:xfrm>
            <a:off x="10570464" y="2057400"/>
            <a:ext cx="310896" cy="310896"/>
          </a:xfrm>
          <a:prstGeom prst="ellipse">
            <a:avLst/>
          </a:prstGeom>
          <a:solidFill>
            <a:srgbClr val="1B2456"/>
          </a:solidFill>
          <a:ln cap="flat" cmpd="sng" w="12700">
            <a:solidFill>
              <a:srgbClr val="E7D28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8"/>
          <p:cNvSpPr/>
          <p:nvPr/>
        </p:nvSpPr>
        <p:spPr>
          <a:xfrm>
            <a:off x="2103120" y="2697480"/>
            <a:ext cx="9144000" cy="3246120"/>
          </a:xfrm>
          <a:prstGeom prst="roundRect">
            <a:avLst>
              <a:gd fmla="val 3380" name="adj"/>
            </a:avLst>
          </a:prstGeom>
          <a:solidFill>
            <a:srgbClr val="1B245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8"/>
          <p:cNvSpPr txBox="1"/>
          <p:nvPr/>
        </p:nvSpPr>
        <p:spPr>
          <a:xfrm>
            <a:off x="2514600" y="2971800"/>
            <a:ext cx="8366760" cy="27432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CFE0FF"/>
              </a:buClr>
              <a:buSzPts val="1550"/>
              <a:buFont typeface="Calibri"/>
              <a:buNone/>
            </a:pPr>
            <a:r>
              <a:rPr b="0" i="0" lang="en-US" sz="1550" u="none" cap="none" strike="noStrike">
                <a:solidFill>
                  <a:srgbClr val="CFE0FF"/>
                </a:solidFill>
                <a:latin typeface="Calibri"/>
                <a:ea typeface="Calibri"/>
                <a:cs typeface="Calibri"/>
                <a:sym typeface="Calibri"/>
              </a:rPr>
              <a:t>Όταν λήξει ο χρόνος του κανονικού παιχνιδιού, το ένστικτο του παίκτη είναι ότι ο γύρος τελείωσε, κλείνει η αυλαία, αυτό ήταν.</a:t>
            </a:r>
            <a:endParaRPr b="0" i="0" sz="155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chemeClr val="dk1"/>
              </a:buClr>
              <a:buSzPts val="1550"/>
              <a:buFont typeface="Calibri"/>
              <a:buNone/>
            </a:pPr>
            <a:r>
              <a:t/>
            </a:r>
            <a:endParaRPr b="0" i="0" sz="1550" u="none" cap="none" strike="noStrike">
              <a:solidFill>
                <a:schemeClr val="dk1"/>
              </a:solidFill>
              <a:latin typeface="Calibri"/>
              <a:ea typeface="Calibri"/>
              <a:cs typeface="Calibri"/>
              <a:sym typeface="Calibri"/>
            </a:endParaRPr>
          </a:p>
          <a:p>
            <a:pPr indent="0" lvl="0" marL="0" marR="0" rtl="0" algn="l">
              <a:lnSpc>
                <a:spcPct val="132000"/>
              </a:lnSpc>
              <a:spcBef>
                <a:spcPts val="0"/>
              </a:spcBef>
              <a:spcAft>
                <a:spcPts val="0"/>
              </a:spcAft>
              <a:buClr>
                <a:srgbClr val="CFE0FF"/>
              </a:buClr>
              <a:buSzPts val="1550"/>
              <a:buFont typeface="Calibri"/>
              <a:buNone/>
            </a:pPr>
            <a:r>
              <a:rPr b="0" i="0" lang="en-US" sz="1550" u="none" cap="none" strike="noStrike">
                <a:solidFill>
                  <a:srgbClr val="CFE0FF"/>
                </a:solidFill>
                <a:latin typeface="Calibri"/>
                <a:ea typeface="Calibri"/>
                <a:cs typeface="Calibri"/>
                <a:sym typeface="Calibri"/>
              </a:rPr>
              <a:t>Αντ' αυτού, το περιβάλλον αλλάζει, γίνεται πιο μπλε, εμφανίζεται το μήνυμα «2nd CHANCE» και ο παίκτης παίρνει έναν ακόμα γύρο για να πιάσει πράσινες μπάλες — μια πραγματική επιπλέον ευκαιρία να κερδίσει, όχι απλώς περισσότερες μπάλες μπόνους.</a:t>
            </a:r>
            <a:endParaRPr b="0" i="0" sz="1550" u="none" cap="none" strike="noStrike">
              <a:solidFill>
                <a:schemeClr val="dk1"/>
              </a:solidFill>
              <a:latin typeface="Calibri"/>
              <a:ea typeface="Calibri"/>
              <a:cs typeface="Calibri"/>
              <a:sym typeface="Calibri"/>
            </a:endParaRPr>
          </a:p>
        </p:txBody>
      </p:sp>
      <p:sp>
        <p:nvSpPr>
          <p:cNvPr id="194" name="Google Shape;194;p8"/>
          <p:cNvSpPr/>
          <p:nvPr/>
        </p:nvSpPr>
        <p:spPr>
          <a:xfrm>
            <a:off x="502920" y="2743200"/>
            <a:ext cx="1417320" cy="1371600"/>
          </a:xfrm>
          <a:prstGeom prst="roundRect">
            <a:avLst>
              <a:gd fmla="val 6667" name="adj"/>
            </a:avLst>
          </a:prstGeom>
          <a:solidFill>
            <a:srgbClr val="3E8E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8"/>
          <p:cNvSpPr txBox="1"/>
          <p:nvPr/>
        </p:nvSpPr>
        <p:spPr>
          <a:xfrm>
            <a:off x="502920" y="2743200"/>
            <a:ext cx="1417320" cy="1371600"/>
          </a:xfrm>
          <a:prstGeom prst="rect">
            <a:avLst/>
          </a:prstGeom>
          <a:noFill/>
          <a:ln>
            <a:noFill/>
          </a:ln>
        </p:spPr>
        <p:txBody>
          <a:bodyPr anchorCtr="0" anchor="ctr" bIns="625" lIns="625" spcFirstLastPara="1" rIns="625" wrap="square" tIns="625">
            <a:noAutofit/>
          </a:bodyPr>
          <a:lstStyle/>
          <a:p>
            <a:pPr indent="0" lvl="0" marL="0" marR="0" rtl="0" algn="ctr">
              <a:lnSpc>
                <a:spcPct val="115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Πράσινες</a:t>
            </a:r>
            <a:endParaRPr b="0" i="0" sz="1300" u="none" cap="none" strike="noStrike">
              <a:solidFill>
                <a:schemeClr val="dk1"/>
              </a:solidFill>
              <a:latin typeface="Calibri"/>
              <a:ea typeface="Calibri"/>
              <a:cs typeface="Calibri"/>
              <a:sym typeface="Calibri"/>
            </a:endParaRPr>
          </a:p>
          <a:p>
            <a:pPr indent="0" lvl="0" marL="0" marR="0" rtl="0" algn="ctr">
              <a:lnSpc>
                <a:spcPct val="115000"/>
              </a:lnSpc>
              <a:spcBef>
                <a:spcPts val="0"/>
              </a:spcBef>
              <a:spcAft>
                <a:spcPts val="0"/>
              </a:spcAft>
              <a:buClr>
                <a:srgbClr val="FFFFFF"/>
              </a:buClr>
              <a:buSzPts val="1300"/>
              <a:buFont typeface="Calibri"/>
              <a:buNone/>
            </a:pPr>
            <a:r>
              <a:rPr b="1" i="0" lang="en-US" sz="1300" u="none" cap="none" strike="noStrike">
                <a:solidFill>
                  <a:srgbClr val="FFFFFF"/>
                </a:solidFill>
                <a:latin typeface="Calibri"/>
                <a:ea typeface="Calibri"/>
                <a:cs typeface="Calibri"/>
                <a:sym typeface="Calibri"/>
              </a:rPr>
              <a:t>μπάλες</a:t>
            </a:r>
            <a:endParaRPr b="0" i="0" sz="1300" u="none" cap="none" strike="noStrike">
              <a:solidFill>
                <a:schemeClr val="dk1"/>
              </a:solidFill>
              <a:latin typeface="Calibri"/>
              <a:ea typeface="Calibri"/>
              <a:cs typeface="Calibri"/>
              <a:sym typeface="Calibri"/>
            </a:endParaRPr>
          </a:p>
        </p:txBody>
      </p:sp>
      <p:sp>
        <p:nvSpPr>
          <p:cNvPr id="196" name="Google Shape;196;p8"/>
          <p:cNvSpPr txBox="1"/>
          <p:nvPr/>
        </p:nvSpPr>
        <p:spPr>
          <a:xfrm>
            <a:off x="45720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0FF"/>
              </a:buClr>
              <a:buSzPts val="900"/>
              <a:buFont typeface="Calibri"/>
              <a:buNone/>
            </a:pPr>
            <a:r>
              <a:rPr b="0" i="0" lang="en-US" sz="900" u="none" cap="none" strike="noStrike">
                <a:solidFill>
                  <a:srgbClr val="CFE0FF"/>
                </a:solidFill>
                <a:latin typeface="Calibri"/>
                <a:ea typeface="Calibri"/>
                <a:cs typeface="Calibri"/>
                <a:sym typeface="Calibri"/>
              </a:rPr>
              <a:t>KINO VR  ·  Ροή Εμπειρίας</a:t>
            </a:r>
            <a:endParaRPr b="0" i="0" sz="900" u="none" cap="none" strike="noStrike">
              <a:solidFill>
                <a:schemeClr val="dk1"/>
              </a:solidFill>
              <a:latin typeface="Calibri"/>
              <a:ea typeface="Calibri"/>
              <a:cs typeface="Calibri"/>
              <a:sym typeface="Calibri"/>
            </a:endParaRPr>
          </a:p>
        </p:txBody>
      </p:sp>
      <p:sp>
        <p:nvSpPr>
          <p:cNvPr id="197" name="Google Shape;197;p8"/>
          <p:cNvSpPr txBox="1"/>
          <p:nvPr/>
        </p:nvSpPr>
        <p:spPr>
          <a:xfrm>
            <a:off x="1127729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FE0FF"/>
              </a:buClr>
              <a:buSzPts val="900"/>
              <a:buFont typeface="Calibri"/>
              <a:buNone/>
            </a:pPr>
            <a:r>
              <a:rPr b="0" i="0" lang="en-US" sz="900" u="none" cap="none" strike="noStrike">
                <a:solidFill>
                  <a:srgbClr val="CFE0FF"/>
                </a:solidFill>
                <a:latin typeface="Calibri"/>
                <a:ea typeface="Calibri"/>
                <a:cs typeface="Calibri"/>
                <a:sym typeface="Calibri"/>
              </a:rPr>
              <a:t>8</a:t>
            </a:r>
            <a:endParaRPr b="0" i="0" sz="900" u="none" cap="none" strike="noStrike">
              <a:solidFill>
                <a:schemeClr val="dk1"/>
              </a:solidFill>
              <a:latin typeface="Calibri"/>
              <a:ea typeface="Calibri"/>
              <a:cs typeface="Calibri"/>
              <a:sym typeface="Calibri"/>
            </a:endParaRPr>
          </a:p>
        </p:txBody>
      </p:sp>
      <p:pic>
        <p:nvPicPr>
          <p:cNvPr id="198" name="Google Shape;198;p8" title="combo_2nd_change.png"/>
          <p:cNvPicPr preferRelativeResize="0"/>
          <p:nvPr/>
        </p:nvPicPr>
        <p:blipFill>
          <a:blip r:embed="rId3">
            <a:alphaModFix/>
          </a:blip>
          <a:stretch>
            <a:fillRect/>
          </a:stretch>
        </p:blipFill>
        <p:spPr>
          <a:xfrm>
            <a:off x="7317850" y="145174"/>
            <a:ext cx="4727649" cy="1957532"/>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3" name="Shape 203"/>
        <p:cNvGrpSpPr/>
        <p:nvPr/>
      </p:nvGrpSpPr>
      <p:grpSpPr>
        <a:xfrm>
          <a:off x="0" y="0"/>
          <a:ext cx="0" cy="0"/>
          <a:chOff x="0" y="0"/>
          <a:chExt cx="0" cy="0"/>
        </a:xfrm>
      </p:grpSpPr>
      <p:sp>
        <p:nvSpPr>
          <p:cNvPr id="204" name="Google Shape;204;p9"/>
          <p:cNvSpPr/>
          <p:nvPr/>
        </p:nvSpPr>
        <p:spPr>
          <a:xfrm>
            <a:off x="640080" y="594360"/>
            <a:ext cx="1188720" cy="118872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9"/>
          <p:cNvSpPr txBox="1"/>
          <p:nvPr/>
        </p:nvSpPr>
        <p:spPr>
          <a:xfrm>
            <a:off x="640080" y="594360"/>
            <a:ext cx="118872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4000"/>
              <a:buFont typeface="Cambria"/>
              <a:buNone/>
            </a:pPr>
            <a:r>
              <a:rPr b="1" i="0" lang="en-US" sz="4000" u="none" cap="none" strike="noStrike">
                <a:solidFill>
                  <a:srgbClr val="10163B"/>
                </a:solidFill>
                <a:latin typeface="Cambria"/>
                <a:ea typeface="Cambria"/>
                <a:cs typeface="Cambria"/>
                <a:sym typeface="Cambria"/>
              </a:rPr>
              <a:t>7</a:t>
            </a:r>
            <a:endParaRPr b="0" i="0" sz="4000" u="none" cap="none" strike="noStrike">
              <a:solidFill>
                <a:schemeClr val="dk1"/>
              </a:solidFill>
              <a:latin typeface="Calibri"/>
              <a:ea typeface="Calibri"/>
              <a:cs typeface="Calibri"/>
              <a:sym typeface="Calibri"/>
            </a:endParaRPr>
          </a:p>
        </p:txBody>
      </p:sp>
      <p:sp>
        <p:nvSpPr>
          <p:cNvPr id="206" name="Google Shape;206;p9"/>
          <p:cNvSpPr txBox="1"/>
          <p:nvPr/>
        </p:nvSpPr>
        <p:spPr>
          <a:xfrm>
            <a:off x="2148840" y="6583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ΣΤΑΔΙΟ 7 / 8</a:t>
            </a:r>
            <a:endParaRPr b="0" i="0" sz="1200" u="none" cap="none" strike="noStrike">
              <a:solidFill>
                <a:schemeClr val="dk1"/>
              </a:solidFill>
              <a:latin typeface="Calibri"/>
              <a:ea typeface="Calibri"/>
              <a:cs typeface="Calibri"/>
              <a:sym typeface="Calibri"/>
            </a:endParaRPr>
          </a:p>
        </p:txBody>
      </p:sp>
      <p:sp>
        <p:nvSpPr>
          <p:cNvPr id="207" name="Google Shape;207;p9"/>
          <p:cNvSpPr txBox="1"/>
          <p:nvPr/>
        </p:nvSpPr>
        <p:spPr>
          <a:xfrm>
            <a:off x="2103120" y="960120"/>
            <a:ext cx="8686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63B"/>
              </a:buClr>
              <a:buSzPts val="3200"/>
              <a:buFont typeface="Cambria"/>
              <a:buNone/>
            </a:pPr>
            <a:r>
              <a:rPr b="1" i="0" lang="en-US" sz="3200" u="none" cap="none" strike="noStrike">
                <a:solidFill>
                  <a:srgbClr val="10163B"/>
                </a:solidFill>
                <a:latin typeface="Cambria"/>
                <a:ea typeface="Cambria"/>
                <a:cs typeface="Cambria"/>
                <a:sym typeface="Cambria"/>
              </a:rPr>
              <a:t>Τελικό Σκορ</a:t>
            </a:r>
            <a:endParaRPr b="0" i="0" sz="3200" u="none" cap="none" strike="noStrike">
              <a:solidFill>
                <a:schemeClr val="dk1"/>
              </a:solidFill>
              <a:latin typeface="Calibri"/>
              <a:ea typeface="Calibri"/>
              <a:cs typeface="Calibri"/>
              <a:sym typeface="Calibri"/>
            </a:endParaRPr>
          </a:p>
        </p:txBody>
      </p:sp>
      <p:cxnSp>
        <p:nvCxnSpPr>
          <p:cNvPr id="208" name="Google Shape;208;p9"/>
          <p:cNvCxnSpPr/>
          <p:nvPr/>
        </p:nvCxnSpPr>
        <p:spPr>
          <a:xfrm>
            <a:off x="2304288" y="2212848"/>
            <a:ext cx="8421624" cy="0"/>
          </a:xfrm>
          <a:prstGeom prst="straightConnector1">
            <a:avLst/>
          </a:prstGeom>
          <a:noFill/>
          <a:ln cap="flat" cmpd="sng" w="25400">
            <a:solidFill>
              <a:srgbClr val="E3E3EE"/>
            </a:solidFill>
            <a:prstDash val="solid"/>
            <a:round/>
            <a:headEnd len="sm" w="sm" type="none"/>
            <a:tailEnd len="sm" w="sm" type="none"/>
          </a:ln>
        </p:spPr>
      </p:cxnSp>
      <p:sp>
        <p:nvSpPr>
          <p:cNvPr id="209" name="Google Shape;209;p9"/>
          <p:cNvSpPr/>
          <p:nvPr/>
        </p:nvSpPr>
        <p:spPr>
          <a:xfrm>
            <a:off x="2148840"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9"/>
          <p:cNvSpPr/>
          <p:nvPr/>
        </p:nvSpPr>
        <p:spPr>
          <a:xfrm>
            <a:off x="3351929"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9"/>
          <p:cNvSpPr/>
          <p:nvPr/>
        </p:nvSpPr>
        <p:spPr>
          <a:xfrm>
            <a:off x="4555018"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9"/>
          <p:cNvSpPr/>
          <p:nvPr/>
        </p:nvSpPr>
        <p:spPr>
          <a:xfrm>
            <a:off x="5758107"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9"/>
          <p:cNvSpPr/>
          <p:nvPr/>
        </p:nvSpPr>
        <p:spPr>
          <a:xfrm>
            <a:off x="6961197"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
          <p:cNvSpPr/>
          <p:nvPr/>
        </p:nvSpPr>
        <p:spPr>
          <a:xfrm>
            <a:off x="8164286"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9"/>
          <p:cNvSpPr/>
          <p:nvPr/>
        </p:nvSpPr>
        <p:spPr>
          <a:xfrm>
            <a:off x="9367375" y="2057400"/>
            <a:ext cx="310896" cy="310896"/>
          </a:xfrm>
          <a:prstGeom prst="ellipse">
            <a:avLst/>
          </a:prstGeom>
          <a:solidFill>
            <a:srgbClr val="C9A227"/>
          </a:solidFill>
          <a:ln cap="flat" cmpd="sng" w="1270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9"/>
          <p:cNvSpPr/>
          <p:nvPr/>
        </p:nvSpPr>
        <p:spPr>
          <a:xfrm>
            <a:off x="10570464"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9"/>
          <p:cNvSpPr/>
          <p:nvPr/>
        </p:nvSpPr>
        <p:spPr>
          <a:xfrm>
            <a:off x="2103120" y="2697480"/>
            <a:ext cx="9144000" cy="3246120"/>
          </a:xfrm>
          <a:prstGeom prst="roundRect">
            <a:avLst>
              <a:gd fmla="val 3380" name="adj"/>
            </a:avLst>
          </a:prstGeom>
          <a:solidFill>
            <a:srgbClr val="F2F3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9"/>
          <p:cNvSpPr txBox="1"/>
          <p:nvPr/>
        </p:nvSpPr>
        <p:spPr>
          <a:xfrm>
            <a:off x="2514600" y="2971800"/>
            <a:ext cx="8366760" cy="27432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71B3B"/>
              </a:buClr>
              <a:buSzPts val="1550"/>
              <a:buFont typeface="Calibri"/>
              <a:buNone/>
            </a:pPr>
            <a:r>
              <a:rPr b="0" i="0" lang="en-US" sz="1550" u="none" cap="none" strike="noStrike">
                <a:solidFill>
                  <a:srgbClr val="171B3B"/>
                </a:solidFill>
                <a:latin typeface="Calibri"/>
                <a:ea typeface="Calibri"/>
                <a:cs typeface="Calibri"/>
                <a:sym typeface="Calibri"/>
              </a:rPr>
              <a:t>Μόλις ολοκληρωθεί η εμπειρία, εμφανίζεται το τελικό σκορ μέσα σε ένα εορταστικό KINO finale, δίνοντας στον χρήστη το αποτέλεσμα όσων μόλις έκανε. Το score μέσα από το headset περνάει στη ροή ανταμοιβής στον πραγματικό κόσμο (εγγραφή, δώρο συμμετοχής, συμμετοχή top 50 στο leaderboard).</a:t>
            </a:r>
            <a:endParaRPr b="0" i="0" sz="1550" u="none" cap="none" strike="noStrike">
              <a:solidFill>
                <a:schemeClr val="dk1"/>
              </a:solidFill>
              <a:latin typeface="Calibri"/>
              <a:ea typeface="Calibri"/>
              <a:cs typeface="Calibri"/>
              <a:sym typeface="Calibri"/>
            </a:endParaRPr>
          </a:p>
        </p:txBody>
      </p:sp>
      <p:sp>
        <p:nvSpPr>
          <p:cNvPr id="219" name="Google Shape;219;p9"/>
          <p:cNvSpPr txBox="1"/>
          <p:nvPr/>
        </p:nvSpPr>
        <p:spPr>
          <a:xfrm>
            <a:off x="45720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KINO VR  ·  Ροή Εμπειρίας</a:t>
            </a:r>
            <a:endParaRPr b="0" i="0" sz="900" u="none" cap="none" strike="noStrike">
              <a:solidFill>
                <a:schemeClr val="dk1"/>
              </a:solidFill>
              <a:latin typeface="Calibri"/>
              <a:ea typeface="Calibri"/>
              <a:cs typeface="Calibri"/>
              <a:sym typeface="Calibri"/>
            </a:endParaRPr>
          </a:p>
        </p:txBody>
      </p:sp>
      <p:sp>
        <p:nvSpPr>
          <p:cNvPr id="220" name="Google Shape;220;p9"/>
          <p:cNvSpPr txBox="1"/>
          <p:nvPr/>
        </p:nvSpPr>
        <p:spPr>
          <a:xfrm>
            <a:off x="1127729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9</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sp>
        <p:nvSpPr>
          <p:cNvPr id="226" name="Google Shape;226;p10"/>
          <p:cNvSpPr/>
          <p:nvPr/>
        </p:nvSpPr>
        <p:spPr>
          <a:xfrm>
            <a:off x="640080" y="594360"/>
            <a:ext cx="1188720" cy="1188720"/>
          </a:xfrm>
          <a:prstGeom prst="ellipse">
            <a:avLst/>
          </a:prstGeom>
          <a:solidFill>
            <a:srgbClr val="C9A22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0"/>
          <p:cNvSpPr txBox="1"/>
          <p:nvPr/>
        </p:nvSpPr>
        <p:spPr>
          <a:xfrm>
            <a:off x="640080" y="594360"/>
            <a:ext cx="1188720" cy="11887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0163B"/>
              </a:buClr>
              <a:buSzPts val="4000"/>
              <a:buFont typeface="Cambria"/>
              <a:buNone/>
            </a:pPr>
            <a:r>
              <a:rPr b="1" i="0" lang="en-US" sz="4000" u="none" cap="none" strike="noStrike">
                <a:solidFill>
                  <a:srgbClr val="10163B"/>
                </a:solidFill>
                <a:latin typeface="Cambria"/>
                <a:ea typeface="Cambria"/>
                <a:cs typeface="Cambria"/>
                <a:sym typeface="Cambria"/>
              </a:rPr>
              <a:t>8</a:t>
            </a:r>
            <a:endParaRPr b="0" i="0" sz="4000" u="none" cap="none" strike="noStrike">
              <a:solidFill>
                <a:schemeClr val="dk1"/>
              </a:solidFill>
              <a:latin typeface="Calibri"/>
              <a:ea typeface="Calibri"/>
              <a:cs typeface="Calibri"/>
              <a:sym typeface="Calibri"/>
            </a:endParaRPr>
          </a:p>
        </p:txBody>
      </p:sp>
      <p:sp>
        <p:nvSpPr>
          <p:cNvPr id="228" name="Google Shape;228;p10"/>
          <p:cNvSpPr txBox="1"/>
          <p:nvPr/>
        </p:nvSpPr>
        <p:spPr>
          <a:xfrm>
            <a:off x="2148840" y="658368"/>
            <a:ext cx="45720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9A227"/>
              </a:buClr>
              <a:buSzPts val="1200"/>
              <a:buFont typeface="Calibri"/>
              <a:buNone/>
            </a:pPr>
            <a:r>
              <a:rPr b="1" i="0" lang="en-US" sz="1200" u="none" cap="none" strike="noStrike">
                <a:solidFill>
                  <a:srgbClr val="C9A227"/>
                </a:solidFill>
                <a:latin typeface="Calibri"/>
                <a:ea typeface="Calibri"/>
                <a:cs typeface="Calibri"/>
                <a:sym typeface="Calibri"/>
              </a:rPr>
              <a:t>ΣΤΑΔΙΟ 8 / 8</a:t>
            </a:r>
            <a:endParaRPr b="0" i="0" sz="1200" u="none" cap="none" strike="noStrike">
              <a:solidFill>
                <a:schemeClr val="dk1"/>
              </a:solidFill>
              <a:latin typeface="Calibri"/>
              <a:ea typeface="Calibri"/>
              <a:cs typeface="Calibri"/>
              <a:sym typeface="Calibri"/>
            </a:endParaRPr>
          </a:p>
        </p:txBody>
      </p:sp>
      <p:sp>
        <p:nvSpPr>
          <p:cNvPr id="229" name="Google Shape;229;p10"/>
          <p:cNvSpPr txBox="1"/>
          <p:nvPr/>
        </p:nvSpPr>
        <p:spPr>
          <a:xfrm>
            <a:off x="2103120" y="960120"/>
            <a:ext cx="868680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0163B"/>
              </a:buClr>
              <a:buSzPts val="3200"/>
              <a:buFont typeface="Cambria"/>
              <a:buNone/>
            </a:pPr>
            <a:r>
              <a:rPr b="1" i="0" lang="en-US" sz="3200" u="none" cap="none" strike="noStrike">
                <a:solidFill>
                  <a:srgbClr val="10163B"/>
                </a:solidFill>
                <a:latin typeface="Cambria"/>
                <a:ea typeface="Cambria"/>
                <a:cs typeface="Cambria"/>
                <a:sym typeface="Cambria"/>
              </a:rPr>
              <a:t>Αφαίρεση Headset</a:t>
            </a:r>
            <a:endParaRPr b="0" i="0" sz="3200" u="none" cap="none" strike="noStrike">
              <a:solidFill>
                <a:schemeClr val="dk1"/>
              </a:solidFill>
              <a:latin typeface="Calibri"/>
              <a:ea typeface="Calibri"/>
              <a:cs typeface="Calibri"/>
              <a:sym typeface="Calibri"/>
            </a:endParaRPr>
          </a:p>
        </p:txBody>
      </p:sp>
      <p:cxnSp>
        <p:nvCxnSpPr>
          <p:cNvPr id="230" name="Google Shape;230;p10"/>
          <p:cNvCxnSpPr/>
          <p:nvPr/>
        </p:nvCxnSpPr>
        <p:spPr>
          <a:xfrm>
            <a:off x="2304288" y="2212848"/>
            <a:ext cx="8421624" cy="0"/>
          </a:xfrm>
          <a:prstGeom prst="straightConnector1">
            <a:avLst/>
          </a:prstGeom>
          <a:noFill/>
          <a:ln cap="flat" cmpd="sng" w="25400">
            <a:solidFill>
              <a:srgbClr val="E3E3EE"/>
            </a:solidFill>
            <a:prstDash val="solid"/>
            <a:round/>
            <a:headEnd len="sm" w="sm" type="none"/>
            <a:tailEnd len="sm" w="sm" type="none"/>
          </a:ln>
        </p:spPr>
      </p:cxnSp>
      <p:sp>
        <p:nvSpPr>
          <p:cNvPr id="231" name="Google Shape;231;p10"/>
          <p:cNvSpPr/>
          <p:nvPr/>
        </p:nvSpPr>
        <p:spPr>
          <a:xfrm>
            <a:off x="2148840"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0"/>
          <p:cNvSpPr/>
          <p:nvPr/>
        </p:nvSpPr>
        <p:spPr>
          <a:xfrm>
            <a:off x="3351929"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0"/>
          <p:cNvSpPr/>
          <p:nvPr/>
        </p:nvSpPr>
        <p:spPr>
          <a:xfrm>
            <a:off x="4555018"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0"/>
          <p:cNvSpPr/>
          <p:nvPr/>
        </p:nvSpPr>
        <p:spPr>
          <a:xfrm>
            <a:off x="5758107"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0"/>
          <p:cNvSpPr/>
          <p:nvPr/>
        </p:nvSpPr>
        <p:spPr>
          <a:xfrm>
            <a:off x="6961197"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0"/>
          <p:cNvSpPr/>
          <p:nvPr/>
        </p:nvSpPr>
        <p:spPr>
          <a:xfrm>
            <a:off x="8164286"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0"/>
          <p:cNvSpPr/>
          <p:nvPr/>
        </p:nvSpPr>
        <p:spPr>
          <a:xfrm>
            <a:off x="9367375" y="2057400"/>
            <a:ext cx="310896" cy="310896"/>
          </a:xfrm>
          <a:prstGeom prst="ellipse">
            <a:avLst/>
          </a:prstGeom>
          <a:solidFill>
            <a:srgbClr val="FFFFFF"/>
          </a:solidFill>
          <a:ln cap="flat" cmpd="sng" w="12700">
            <a:solidFill>
              <a:srgbClr val="5B5F7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0"/>
          <p:cNvSpPr/>
          <p:nvPr/>
        </p:nvSpPr>
        <p:spPr>
          <a:xfrm>
            <a:off x="10570464" y="2057400"/>
            <a:ext cx="310896" cy="310896"/>
          </a:xfrm>
          <a:prstGeom prst="ellipse">
            <a:avLst/>
          </a:prstGeom>
          <a:solidFill>
            <a:srgbClr val="C9A227"/>
          </a:solidFill>
          <a:ln cap="flat" cmpd="sng" w="12700">
            <a:solidFill>
              <a:srgbClr val="C9A22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0"/>
          <p:cNvSpPr/>
          <p:nvPr/>
        </p:nvSpPr>
        <p:spPr>
          <a:xfrm>
            <a:off x="2103120" y="2697480"/>
            <a:ext cx="9144000" cy="3246120"/>
          </a:xfrm>
          <a:prstGeom prst="roundRect">
            <a:avLst>
              <a:gd fmla="val 3380" name="adj"/>
            </a:avLst>
          </a:prstGeom>
          <a:solidFill>
            <a:srgbClr val="F2F3F9"/>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0"/>
          <p:cNvSpPr txBox="1"/>
          <p:nvPr/>
        </p:nvSpPr>
        <p:spPr>
          <a:xfrm>
            <a:off x="2514600" y="2971800"/>
            <a:ext cx="8366760" cy="2743200"/>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171B3B"/>
              </a:buClr>
              <a:buSzPts val="1550"/>
              <a:buFont typeface="Calibri"/>
              <a:buNone/>
            </a:pPr>
            <a:r>
              <a:rPr b="0" i="0" lang="en-US" sz="1550" u="none" cap="none" strike="noStrike">
                <a:solidFill>
                  <a:srgbClr val="171B3B"/>
                </a:solidFill>
                <a:latin typeface="Calibri"/>
                <a:ea typeface="Calibri"/>
                <a:cs typeface="Calibri"/>
                <a:sym typeface="Calibri"/>
              </a:rPr>
              <a:t>Σαφές, ήρεμο τέλος — fade to black ή επιστροφή σε ουδέτερη «ασφαλή» σκηνή — πριν ο χρήστης βγάλει το headset. Ένα απότομο κόψιμο κατευθείαν σε μαύρο νιώθει απότομο, γι' αυτό διατηρείται μια σύντομη ομαλή έξοδος.</a:t>
            </a:r>
            <a:endParaRPr b="0" i="0" sz="1550" u="none" cap="none" strike="noStrike">
              <a:solidFill>
                <a:schemeClr val="dk1"/>
              </a:solidFill>
              <a:latin typeface="Calibri"/>
              <a:ea typeface="Calibri"/>
              <a:cs typeface="Calibri"/>
              <a:sym typeface="Calibri"/>
            </a:endParaRPr>
          </a:p>
        </p:txBody>
      </p:sp>
      <p:sp>
        <p:nvSpPr>
          <p:cNvPr id="241" name="Google Shape;241;p10"/>
          <p:cNvSpPr txBox="1"/>
          <p:nvPr/>
        </p:nvSpPr>
        <p:spPr>
          <a:xfrm>
            <a:off x="457200" y="6400800"/>
            <a:ext cx="6400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KINO VR  ·  Ροή Εμπειρίας</a:t>
            </a:r>
            <a:endParaRPr b="0" i="0" sz="900" u="none" cap="none" strike="noStrike">
              <a:solidFill>
                <a:schemeClr val="dk1"/>
              </a:solidFill>
              <a:latin typeface="Calibri"/>
              <a:ea typeface="Calibri"/>
              <a:cs typeface="Calibri"/>
              <a:sym typeface="Calibri"/>
            </a:endParaRPr>
          </a:p>
        </p:txBody>
      </p:sp>
      <p:sp>
        <p:nvSpPr>
          <p:cNvPr id="242" name="Google Shape;242;p10"/>
          <p:cNvSpPr txBox="1"/>
          <p:nvPr/>
        </p:nvSpPr>
        <p:spPr>
          <a:xfrm>
            <a:off x="11277295" y="6400800"/>
            <a:ext cx="4572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B5F7A"/>
              </a:buClr>
              <a:buSzPts val="900"/>
              <a:buFont typeface="Calibri"/>
              <a:buNone/>
            </a:pPr>
            <a:r>
              <a:rPr b="0" i="0" lang="en-US" sz="900" u="none" cap="none" strike="noStrike">
                <a:solidFill>
                  <a:srgbClr val="5B5F7A"/>
                </a:solidFill>
                <a:latin typeface="Calibri"/>
                <a:ea typeface="Calibri"/>
                <a:cs typeface="Calibri"/>
                <a:sym typeface="Calibri"/>
              </a:rPr>
              <a:t>10</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2026-09-10T16:11:56Z</dcterms:created>
  <dc:creator>KINO VR</dc:creator>
</cp:coreProperties>
</file>